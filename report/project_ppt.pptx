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06" r:id="rId1"/>
  </p:sldMasterIdLst>
  <p:notesMasterIdLst>
    <p:notesMasterId r:id="rId23"/>
  </p:notesMasterIdLst>
  <p:handoutMasterIdLst>
    <p:handoutMasterId r:id="rId24"/>
  </p:handoutMasterIdLst>
  <p:sldIdLst>
    <p:sldId id="335" r:id="rId2"/>
    <p:sldId id="345" r:id="rId3"/>
    <p:sldId id="352" r:id="rId4"/>
    <p:sldId id="353" r:id="rId5"/>
    <p:sldId id="354" r:id="rId6"/>
    <p:sldId id="355" r:id="rId7"/>
    <p:sldId id="356" r:id="rId8"/>
    <p:sldId id="357" r:id="rId9"/>
    <p:sldId id="358" r:id="rId10"/>
    <p:sldId id="359" r:id="rId11"/>
    <p:sldId id="366" r:id="rId12"/>
    <p:sldId id="369" r:id="rId13"/>
    <p:sldId id="349" r:id="rId14"/>
    <p:sldId id="350" r:id="rId15"/>
    <p:sldId id="367" r:id="rId16"/>
    <p:sldId id="368" r:id="rId17"/>
    <p:sldId id="370" r:id="rId18"/>
    <p:sldId id="372" r:id="rId19"/>
    <p:sldId id="373" r:id="rId20"/>
    <p:sldId id="361" r:id="rId21"/>
    <p:sldId id="363" r:id="rId22"/>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3" autoAdjust="0"/>
    <p:restoredTop sz="94660"/>
  </p:normalViewPr>
  <p:slideViewPr>
    <p:cSldViewPr>
      <p:cViewPr varScale="1">
        <p:scale>
          <a:sx n="111" d="100"/>
          <a:sy n="111" d="100"/>
        </p:scale>
        <p:origin x="20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965E49-9504-D1B5-907E-F0131459EEBF}"/>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9E8ECBAF-2A61-9D47-E6EB-752E059FB52E}"/>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12CFA605-1CD3-4C78-896B-08BEF8CD4A73}" type="datetimeFigureOut">
              <a:rPr lang="en-IN"/>
              <a:pPr>
                <a:defRPr/>
              </a:pPr>
              <a:t>18-12-2025</a:t>
            </a:fld>
            <a:endParaRPr lang="en-IN"/>
          </a:p>
        </p:txBody>
      </p:sp>
      <p:sp>
        <p:nvSpPr>
          <p:cNvPr id="4" name="Footer Placeholder 3">
            <a:extLst>
              <a:ext uri="{FF2B5EF4-FFF2-40B4-BE49-F238E27FC236}">
                <a16:creationId xmlns:a16="http://schemas.microsoft.com/office/drawing/2014/main" id="{D9F2FD88-1B5F-3E1A-83C1-75510E69C3EF}"/>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5" name="Slide Number Placeholder 4">
            <a:extLst>
              <a:ext uri="{FF2B5EF4-FFF2-40B4-BE49-F238E27FC236}">
                <a16:creationId xmlns:a16="http://schemas.microsoft.com/office/drawing/2014/main" id="{488C2BB1-75F7-7401-E33F-0E55EB62923B}"/>
              </a:ext>
            </a:extLst>
          </p:cNvPr>
          <p:cNvSpPr>
            <a:spLocks noGrp="1"/>
          </p:cNvSpPr>
          <p:nvPr>
            <p:ph type="sldNum" sz="quarter" idx="3"/>
          </p:nvPr>
        </p:nvSpPr>
        <p:spPr>
          <a:xfrm>
            <a:off x="4143375" y="9120188"/>
            <a:ext cx="3170238" cy="4810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851FA90-7BBA-45A1-99A8-554CD759728E}" type="slidenum">
              <a:rPr lang="en-IN" altLang="en-US"/>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B41DCC-352F-7809-CCFD-F14CBA918591}"/>
              </a:ext>
            </a:extLst>
          </p:cNvPr>
          <p:cNvSpPr>
            <a:spLocks noGrp="1"/>
          </p:cNvSpPr>
          <p:nvPr>
            <p:ph type="hdr" sz="quarter"/>
          </p:nvPr>
        </p:nvSpPr>
        <p:spPr>
          <a:xfrm>
            <a:off x="0" y="0"/>
            <a:ext cx="3170238" cy="479425"/>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Arial" charset="0"/>
              </a:defRPr>
            </a:lvl1pPr>
          </a:lstStyle>
          <a:p>
            <a:pPr>
              <a:defRPr/>
            </a:pPr>
            <a:endParaRPr lang="en-US"/>
          </a:p>
        </p:txBody>
      </p:sp>
      <p:sp>
        <p:nvSpPr>
          <p:cNvPr id="3" name="Date Placeholder 2">
            <a:extLst>
              <a:ext uri="{FF2B5EF4-FFF2-40B4-BE49-F238E27FC236}">
                <a16:creationId xmlns:a16="http://schemas.microsoft.com/office/drawing/2014/main" id="{90FD632B-7C00-C336-E5D9-A055FDE9AAB9}"/>
              </a:ext>
            </a:extLst>
          </p:cNvPr>
          <p:cNvSpPr>
            <a:spLocks noGrp="1"/>
          </p:cNvSpPr>
          <p:nvPr>
            <p:ph type="dt" idx="1"/>
          </p:nvPr>
        </p:nvSpPr>
        <p:spPr>
          <a:xfrm>
            <a:off x="4143375" y="0"/>
            <a:ext cx="3170238" cy="479425"/>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Arial" charset="0"/>
              </a:defRPr>
            </a:lvl1pPr>
          </a:lstStyle>
          <a:p>
            <a:pPr>
              <a:defRPr/>
            </a:pPr>
            <a:fld id="{7BACDC13-41A5-4CC4-93A9-CE3620CEB7A8}" type="datetimeFigureOut">
              <a:rPr lang="en-US"/>
              <a:pPr>
                <a:defRPr/>
              </a:pPr>
              <a:t>12/18/2025</a:t>
            </a:fld>
            <a:endParaRPr lang="en-US"/>
          </a:p>
        </p:txBody>
      </p:sp>
      <p:sp>
        <p:nvSpPr>
          <p:cNvPr id="4" name="Slide Image Placeholder 3">
            <a:extLst>
              <a:ext uri="{FF2B5EF4-FFF2-40B4-BE49-F238E27FC236}">
                <a16:creationId xmlns:a16="http://schemas.microsoft.com/office/drawing/2014/main" id="{F1A81BB2-26D2-977C-BCBD-8D5212DA69BB}"/>
              </a:ext>
            </a:extLst>
          </p:cNvPr>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28849D6-DF25-B74B-E511-794B088A9959}"/>
              </a:ext>
            </a:extLst>
          </p:cNvPr>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E2FC16E-5869-CA26-EB64-075AE6193E7F}"/>
              </a:ext>
            </a:extLst>
          </p:cNvPr>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09C63DF5-175C-85C3-18B4-8A0F49D49C95}"/>
              </a:ext>
            </a:extLst>
          </p:cNvPr>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8F6A354F-4066-4F12-BB96-46DEBB529856}"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144DED-E418-65BD-B6F7-8284B1F65940}"/>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32F0166-D303-862C-1C47-150A06D1B8EC}"/>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EE2458C8-F558-6182-1029-A3BEC9223991}"/>
              </a:ext>
            </a:extLst>
          </p:cNvPr>
          <p:cNvSpPr>
            <a:spLocks noGrp="1"/>
          </p:cNvSpPr>
          <p:nvPr>
            <p:ph type="sldNum" sz="quarter" idx="12"/>
          </p:nvPr>
        </p:nvSpPr>
        <p:spPr/>
        <p:txBody>
          <a:bodyPr/>
          <a:lstStyle>
            <a:lvl1pPr>
              <a:defRPr/>
            </a:lvl1pPr>
          </a:lstStyle>
          <a:p>
            <a:fld id="{7F152F2A-3169-4790-9C21-94A8493C6D59}" type="slidenum">
              <a:rPr lang="en-US" altLang="en-US"/>
              <a:pPr/>
              <a:t>‹#›</a:t>
            </a:fld>
            <a:endParaRPr lang="en-US" altLang="en-US"/>
          </a:p>
        </p:txBody>
      </p:sp>
    </p:spTree>
    <p:extLst>
      <p:ext uri="{BB962C8B-B14F-4D97-AF65-F5344CB8AC3E}">
        <p14:creationId xmlns:p14="http://schemas.microsoft.com/office/powerpoint/2010/main" val="2226394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36097A-CB85-4D55-558A-80DCA155D39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4B00EC7-DB5E-449D-0471-17C4C7C19D0C}"/>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E95E8697-A91A-F9CE-0E9A-A7273632FD41}"/>
              </a:ext>
            </a:extLst>
          </p:cNvPr>
          <p:cNvSpPr>
            <a:spLocks noGrp="1"/>
          </p:cNvSpPr>
          <p:nvPr>
            <p:ph type="sldNum" sz="quarter" idx="12"/>
          </p:nvPr>
        </p:nvSpPr>
        <p:spPr/>
        <p:txBody>
          <a:bodyPr/>
          <a:lstStyle>
            <a:lvl1pPr>
              <a:defRPr/>
            </a:lvl1pPr>
          </a:lstStyle>
          <a:p>
            <a:fld id="{9D73CAE4-B13A-4AC7-ABCD-5EDF85FE4EA2}" type="slidenum">
              <a:rPr lang="en-US" altLang="en-US"/>
              <a:pPr/>
              <a:t>‹#›</a:t>
            </a:fld>
            <a:endParaRPr lang="en-US" altLang="en-US"/>
          </a:p>
        </p:txBody>
      </p:sp>
    </p:spTree>
    <p:extLst>
      <p:ext uri="{BB962C8B-B14F-4D97-AF65-F5344CB8AC3E}">
        <p14:creationId xmlns:p14="http://schemas.microsoft.com/office/powerpoint/2010/main" val="50553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31A344-D29A-94DA-E483-02803288B47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D976310-2949-22FB-D5C4-B5FC6106D26D}"/>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CF2C2BC7-68D5-8C89-E83A-43B1F3B80857}"/>
              </a:ext>
            </a:extLst>
          </p:cNvPr>
          <p:cNvSpPr>
            <a:spLocks noGrp="1"/>
          </p:cNvSpPr>
          <p:nvPr>
            <p:ph type="sldNum" sz="quarter" idx="12"/>
          </p:nvPr>
        </p:nvSpPr>
        <p:spPr/>
        <p:txBody>
          <a:bodyPr/>
          <a:lstStyle>
            <a:lvl1pPr>
              <a:defRPr/>
            </a:lvl1pPr>
          </a:lstStyle>
          <a:p>
            <a:fld id="{5C908DE3-F629-4FFB-AA9D-8A2CE515A849}" type="slidenum">
              <a:rPr lang="en-US" altLang="en-US"/>
              <a:pPr/>
              <a:t>‹#›</a:t>
            </a:fld>
            <a:endParaRPr lang="en-US" altLang="en-US"/>
          </a:p>
        </p:txBody>
      </p:sp>
    </p:spTree>
    <p:extLst>
      <p:ext uri="{BB962C8B-B14F-4D97-AF65-F5344CB8AC3E}">
        <p14:creationId xmlns:p14="http://schemas.microsoft.com/office/powerpoint/2010/main" val="2502918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CD8CA5D-EA58-07B0-5122-C889EFFCA967}"/>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4069130-EEF2-5DDA-4828-0F67D60B551D}"/>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7" name="Slide Number Placeholder 5">
            <a:extLst>
              <a:ext uri="{FF2B5EF4-FFF2-40B4-BE49-F238E27FC236}">
                <a16:creationId xmlns:a16="http://schemas.microsoft.com/office/drawing/2014/main" id="{6BD87551-578F-2D63-3DA9-91625304C841}"/>
              </a:ext>
            </a:extLst>
          </p:cNvPr>
          <p:cNvSpPr>
            <a:spLocks noGrp="1"/>
          </p:cNvSpPr>
          <p:nvPr>
            <p:ph type="sldNum" sz="quarter" idx="12"/>
          </p:nvPr>
        </p:nvSpPr>
        <p:spPr/>
        <p:txBody>
          <a:bodyPr/>
          <a:lstStyle>
            <a:lvl1pPr>
              <a:defRPr/>
            </a:lvl1pPr>
          </a:lstStyle>
          <a:p>
            <a:fld id="{77344E5A-73B4-4FD2-87E4-B633D8DBC72C}" type="slidenum">
              <a:rPr lang="en-US" altLang="en-US"/>
              <a:pPr/>
              <a:t>‹#›</a:t>
            </a:fld>
            <a:endParaRPr lang="en-US" altLang="en-US"/>
          </a:p>
        </p:txBody>
      </p:sp>
    </p:spTree>
    <p:extLst>
      <p:ext uri="{BB962C8B-B14F-4D97-AF65-F5344CB8AC3E}">
        <p14:creationId xmlns:p14="http://schemas.microsoft.com/office/powerpoint/2010/main" val="248524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97AD522F-8E27-A347-ED03-2D5DB6579247}"/>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3BDAB870-F498-3D66-14EA-BE78B3DC1EDA}"/>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9" name="Slide Number Placeholder 5">
            <a:extLst>
              <a:ext uri="{FF2B5EF4-FFF2-40B4-BE49-F238E27FC236}">
                <a16:creationId xmlns:a16="http://schemas.microsoft.com/office/drawing/2014/main" id="{645D6DE2-21C8-1AED-ABA1-931981B7328D}"/>
              </a:ext>
            </a:extLst>
          </p:cNvPr>
          <p:cNvSpPr>
            <a:spLocks noGrp="1"/>
          </p:cNvSpPr>
          <p:nvPr>
            <p:ph type="sldNum" sz="quarter" idx="12"/>
          </p:nvPr>
        </p:nvSpPr>
        <p:spPr/>
        <p:txBody>
          <a:bodyPr/>
          <a:lstStyle>
            <a:lvl1pPr>
              <a:defRPr/>
            </a:lvl1pPr>
          </a:lstStyle>
          <a:p>
            <a:fld id="{F1EB93F2-5B6C-4321-AE78-82A282D7F213}" type="slidenum">
              <a:rPr lang="en-US" altLang="en-US"/>
              <a:pPr/>
              <a:t>‹#›</a:t>
            </a:fld>
            <a:endParaRPr lang="en-US" altLang="en-US"/>
          </a:p>
        </p:txBody>
      </p:sp>
    </p:spTree>
    <p:extLst>
      <p:ext uri="{BB962C8B-B14F-4D97-AF65-F5344CB8AC3E}">
        <p14:creationId xmlns:p14="http://schemas.microsoft.com/office/powerpoint/2010/main" val="159279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47BB865-D212-7E85-5249-E44225A9C684}"/>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B018684E-A97C-4637-62DE-829C2DDAA106}"/>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5" name="Slide Number Placeholder 5">
            <a:extLst>
              <a:ext uri="{FF2B5EF4-FFF2-40B4-BE49-F238E27FC236}">
                <a16:creationId xmlns:a16="http://schemas.microsoft.com/office/drawing/2014/main" id="{AC2A94CA-41EF-A02D-A55D-FA64954EAD88}"/>
              </a:ext>
            </a:extLst>
          </p:cNvPr>
          <p:cNvSpPr>
            <a:spLocks noGrp="1"/>
          </p:cNvSpPr>
          <p:nvPr>
            <p:ph type="sldNum" sz="quarter" idx="12"/>
          </p:nvPr>
        </p:nvSpPr>
        <p:spPr/>
        <p:txBody>
          <a:bodyPr/>
          <a:lstStyle>
            <a:lvl1pPr>
              <a:defRPr/>
            </a:lvl1pPr>
          </a:lstStyle>
          <a:p>
            <a:fld id="{675988CF-5D30-4D00-93A8-659B07C9834F}" type="slidenum">
              <a:rPr lang="en-US" altLang="en-US"/>
              <a:pPr/>
              <a:t>‹#›</a:t>
            </a:fld>
            <a:endParaRPr lang="en-US" altLang="en-US"/>
          </a:p>
        </p:txBody>
      </p:sp>
    </p:spTree>
    <p:extLst>
      <p:ext uri="{BB962C8B-B14F-4D97-AF65-F5344CB8AC3E}">
        <p14:creationId xmlns:p14="http://schemas.microsoft.com/office/powerpoint/2010/main" val="379821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60243A7-75F0-3107-8D3C-3B186210903A}"/>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0A523DE1-3358-595E-4A3C-63B619C0DD29}"/>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4" name="Slide Number Placeholder 5">
            <a:extLst>
              <a:ext uri="{FF2B5EF4-FFF2-40B4-BE49-F238E27FC236}">
                <a16:creationId xmlns:a16="http://schemas.microsoft.com/office/drawing/2014/main" id="{E03237FE-815A-1E09-7261-F164720AAAB7}"/>
              </a:ext>
            </a:extLst>
          </p:cNvPr>
          <p:cNvSpPr>
            <a:spLocks noGrp="1"/>
          </p:cNvSpPr>
          <p:nvPr>
            <p:ph type="sldNum" sz="quarter" idx="12"/>
          </p:nvPr>
        </p:nvSpPr>
        <p:spPr/>
        <p:txBody>
          <a:bodyPr/>
          <a:lstStyle>
            <a:lvl1pPr>
              <a:defRPr/>
            </a:lvl1pPr>
          </a:lstStyle>
          <a:p>
            <a:fld id="{185413E7-BE16-46B7-8E6A-6BE9CD646E83}" type="slidenum">
              <a:rPr lang="en-US" altLang="en-US"/>
              <a:pPr/>
              <a:t>‹#›</a:t>
            </a:fld>
            <a:endParaRPr lang="en-US" altLang="en-US"/>
          </a:p>
        </p:txBody>
      </p:sp>
    </p:spTree>
    <p:extLst>
      <p:ext uri="{BB962C8B-B14F-4D97-AF65-F5344CB8AC3E}">
        <p14:creationId xmlns:p14="http://schemas.microsoft.com/office/powerpoint/2010/main" val="4158662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F8469570-A19B-9223-510A-EEBC77508A8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3C6E7D4F-9D80-4EBB-1D4D-32D045CFB89F}"/>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7" name="Slide Number Placeholder 5">
            <a:extLst>
              <a:ext uri="{FF2B5EF4-FFF2-40B4-BE49-F238E27FC236}">
                <a16:creationId xmlns:a16="http://schemas.microsoft.com/office/drawing/2014/main" id="{03424799-C1CA-F046-3A3D-F7C3ED962F6D}"/>
              </a:ext>
            </a:extLst>
          </p:cNvPr>
          <p:cNvSpPr>
            <a:spLocks noGrp="1"/>
          </p:cNvSpPr>
          <p:nvPr>
            <p:ph type="sldNum" sz="quarter" idx="12"/>
          </p:nvPr>
        </p:nvSpPr>
        <p:spPr/>
        <p:txBody>
          <a:bodyPr/>
          <a:lstStyle>
            <a:lvl1pPr>
              <a:defRPr/>
            </a:lvl1pPr>
          </a:lstStyle>
          <a:p>
            <a:fld id="{7120EF40-7C6F-41D5-9261-F407CF7E7AA7}" type="slidenum">
              <a:rPr lang="en-US" altLang="en-US"/>
              <a:pPr/>
              <a:t>‹#›</a:t>
            </a:fld>
            <a:endParaRPr lang="en-US" altLang="en-US"/>
          </a:p>
        </p:txBody>
      </p:sp>
    </p:spTree>
    <p:extLst>
      <p:ext uri="{BB962C8B-B14F-4D97-AF65-F5344CB8AC3E}">
        <p14:creationId xmlns:p14="http://schemas.microsoft.com/office/powerpoint/2010/main" val="2545434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IN" noProof="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3">
            <a:extLst>
              <a:ext uri="{FF2B5EF4-FFF2-40B4-BE49-F238E27FC236}">
                <a16:creationId xmlns:a16="http://schemas.microsoft.com/office/drawing/2014/main" id="{B9B65E3A-A942-A246-C148-A75CA5370FD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17405D5-784F-B615-92A0-877E32E4B245}"/>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7" name="Slide Number Placeholder 5">
            <a:extLst>
              <a:ext uri="{FF2B5EF4-FFF2-40B4-BE49-F238E27FC236}">
                <a16:creationId xmlns:a16="http://schemas.microsoft.com/office/drawing/2014/main" id="{548199D0-5F27-61F2-C5CD-8C89F10605BC}"/>
              </a:ext>
            </a:extLst>
          </p:cNvPr>
          <p:cNvSpPr>
            <a:spLocks noGrp="1"/>
          </p:cNvSpPr>
          <p:nvPr>
            <p:ph type="sldNum" sz="quarter" idx="12"/>
          </p:nvPr>
        </p:nvSpPr>
        <p:spPr/>
        <p:txBody>
          <a:bodyPr/>
          <a:lstStyle>
            <a:lvl1pPr>
              <a:defRPr/>
            </a:lvl1pPr>
          </a:lstStyle>
          <a:p>
            <a:fld id="{A62FD86B-2F01-41CB-9729-C0DEF4996AAE}" type="slidenum">
              <a:rPr lang="en-US" altLang="en-US"/>
              <a:pPr/>
              <a:t>‹#›</a:t>
            </a:fld>
            <a:endParaRPr lang="en-US" altLang="en-US"/>
          </a:p>
        </p:txBody>
      </p:sp>
    </p:spTree>
    <p:extLst>
      <p:ext uri="{BB962C8B-B14F-4D97-AF65-F5344CB8AC3E}">
        <p14:creationId xmlns:p14="http://schemas.microsoft.com/office/powerpoint/2010/main" val="2830245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A167CE-9B51-950B-274A-757AFCD6B9E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4270E88-D8F8-16FF-538E-EF21DB3D3253}"/>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9DF54046-7B00-C608-2AF8-C9CE9BEE4BC4}"/>
              </a:ext>
            </a:extLst>
          </p:cNvPr>
          <p:cNvSpPr>
            <a:spLocks noGrp="1"/>
          </p:cNvSpPr>
          <p:nvPr>
            <p:ph type="sldNum" sz="quarter" idx="12"/>
          </p:nvPr>
        </p:nvSpPr>
        <p:spPr/>
        <p:txBody>
          <a:bodyPr/>
          <a:lstStyle>
            <a:lvl1pPr>
              <a:defRPr/>
            </a:lvl1pPr>
          </a:lstStyle>
          <a:p>
            <a:fld id="{09399C60-A3BF-4D47-AEF8-1ACB0F399047}" type="slidenum">
              <a:rPr lang="en-US" altLang="en-US"/>
              <a:pPr/>
              <a:t>‹#›</a:t>
            </a:fld>
            <a:endParaRPr lang="en-US" altLang="en-US"/>
          </a:p>
        </p:txBody>
      </p:sp>
    </p:spTree>
    <p:extLst>
      <p:ext uri="{BB962C8B-B14F-4D97-AF65-F5344CB8AC3E}">
        <p14:creationId xmlns:p14="http://schemas.microsoft.com/office/powerpoint/2010/main" val="2809853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1405B3-BBC6-06B6-CC57-716D50BB56C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7D40E5B6-6FFE-8638-2340-1672CDCA156A}"/>
              </a:ext>
            </a:extLst>
          </p:cNvPr>
          <p:cNvSpPr>
            <a:spLocks noGrp="1"/>
          </p:cNvSpPr>
          <p:nvPr>
            <p:ph type="ftr" sz="quarter" idx="11"/>
          </p:nvPr>
        </p:nvSpPr>
        <p:spPr/>
        <p:txBody>
          <a:bodyPr/>
          <a:lstStyle>
            <a:lvl1pPr>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00E73481-F4C4-EACC-1EBE-7B001EB5A7BA}"/>
              </a:ext>
            </a:extLst>
          </p:cNvPr>
          <p:cNvSpPr>
            <a:spLocks noGrp="1"/>
          </p:cNvSpPr>
          <p:nvPr>
            <p:ph type="sldNum" sz="quarter" idx="12"/>
          </p:nvPr>
        </p:nvSpPr>
        <p:spPr/>
        <p:txBody>
          <a:bodyPr/>
          <a:lstStyle>
            <a:lvl1pPr>
              <a:defRPr/>
            </a:lvl1pPr>
          </a:lstStyle>
          <a:p>
            <a:fld id="{2622AE11-EF31-47C9-93F7-535AE2BFCD69}" type="slidenum">
              <a:rPr lang="en-US" altLang="en-US"/>
              <a:pPr/>
              <a:t>‹#›</a:t>
            </a:fld>
            <a:endParaRPr lang="en-US" altLang="en-US"/>
          </a:p>
        </p:txBody>
      </p:sp>
    </p:spTree>
    <p:extLst>
      <p:ext uri="{BB962C8B-B14F-4D97-AF65-F5344CB8AC3E}">
        <p14:creationId xmlns:p14="http://schemas.microsoft.com/office/powerpoint/2010/main" val="2596574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505A8EF-A152-DE03-32EF-F99B6A447D15}"/>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7E0F64E9-FCF8-D022-C902-09C25972E6E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BBA669A1-F893-E3E6-F395-040AD1052EA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780E4F02-52B6-8C30-164D-208353B92FB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r>
              <a:rPr lang="en-US"/>
              <a:t>DEPT. of CSE                      CSB4243-Design Project-1</a:t>
            </a:r>
          </a:p>
        </p:txBody>
      </p:sp>
      <p:sp>
        <p:nvSpPr>
          <p:cNvPr id="6" name="Slide Number Placeholder 5">
            <a:extLst>
              <a:ext uri="{FF2B5EF4-FFF2-40B4-BE49-F238E27FC236}">
                <a16:creationId xmlns:a16="http://schemas.microsoft.com/office/drawing/2014/main" id="{4E0307FB-9F56-24F0-1CEA-16F04723133D}"/>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D418F2E0-9650-4F1A-B097-70D7EDB7B8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p:hf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F1942-06A9-7BFD-91E9-A2249AC75080}"/>
              </a:ext>
            </a:extLst>
          </p:cNvPr>
          <p:cNvSpPr>
            <a:spLocks noGrp="1"/>
          </p:cNvSpPr>
          <p:nvPr>
            <p:ph type="ctrTitle"/>
          </p:nvPr>
        </p:nvSpPr>
        <p:spPr>
          <a:xfrm>
            <a:off x="469106" y="1458913"/>
            <a:ext cx="8205788" cy="2351087"/>
          </a:xfrm>
        </p:spPr>
        <p:txBody>
          <a:bodyPr rtlCol="0">
            <a:normAutofit fontScale="90000"/>
          </a:bodyPr>
          <a:lstStyle/>
          <a:p>
            <a:pPr eaLnBrk="1" fontAlgn="auto" hangingPunct="1">
              <a:lnSpc>
                <a:spcPct val="150000"/>
              </a:lnSpc>
              <a:spcAft>
                <a:spcPts val="0"/>
              </a:spcAft>
              <a:defRPr/>
            </a:pPr>
            <a:br>
              <a:rPr lang="en-US" b="1" dirty="0"/>
            </a:br>
            <a:r>
              <a:rPr lang="en-US" sz="3100" b="1" dirty="0">
                <a:latin typeface="Times New Roman" panose="02020603050405020304" pitchFamily="18" charset="0"/>
                <a:cs typeface="Times New Roman" panose="02020603050405020304" pitchFamily="18" charset="0"/>
              </a:rPr>
              <a:t>Department of Computer Science and Engineering</a:t>
            </a:r>
            <a:br>
              <a:rPr lang="en-US" sz="3600" b="1" dirty="0"/>
            </a:br>
            <a:r>
              <a:rPr lang="en-US" sz="2700" b="1" dirty="0">
                <a:latin typeface="Times New Roman" pitchFamily="18" charset="0"/>
                <a:cs typeface="Times New Roman" pitchFamily="18" charset="0"/>
              </a:rPr>
              <a:t>IBA4431 – MINI PROJECT </a:t>
            </a:r>
            <a:br>
              <a:rPr lang="en-US" sz="3100" b="1" dirty="0"/>
            </a:br>
            <a:r>
              <a:rPr lang="en-US" sz="3100" b="1" dirty="0">
                <a:latin typeface="Times New Roman" panose="02020603050405020304" pitchFamily="18" charset="0"/>
                <a:cs typeface="Times New Roman" panose="02020603050405020304" pitchFamily="18" charset="0"/>
              </a:rPr>
              <a:t>Ornithopter Control System for Defense and Rescue</a:t>
            </a:r>
            <a:br>
              <a:rPr lang="en-US" sz="3100" b="1"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Final Review</a:t>
            </a:r>
            <a:endParaRPr lang="en-IN" sz="2700" b="1" dirty="0">
              <a:latin typeface="Times New Roman" panose="02020603050405020304" pitchFamily="18" charset="0"/>
              <a:cs typeface="Times New Roman" panose="02020603050405020304" pitchFamily="18" charset="0"/>
            </a:endParaRPr>
          </a:p>
        </p:txBody>
      </p:sp>
      <p:sp>
        <p:nvSpPr>
          <p:cNvPr id="4099" name="Subtitle 2">
            <a:extLst>
              <a:ext uri="{FF2B5EF4-FFF2-40B4-BE49-F238E27FC236}">
                <a16:creationId xmlns:a16="http://schemas.microsoft.com/office/drawing/2014/main" id="{4644FD8D-4D98-7E7B-4070-43DD45B51516}"/>
              </a:ext>
            </a:extLst>
          </p:cNvPr>
          <p:cNvSpPr>
            <a:spLocks noGrp="1"/>
          </p:cNvSpPr>
          <p:nvPr>
            <p:ph type="subTitle" idx="1"/>
          </p:nvPr>
        </p:nvSpPr>
        <p:spPr>
          <a:xfrm>
            <a:off x="5024483" y="4876800"/>
            <a:ext cx="3657600" cy="457200"/>
          </a:xfrm>
        </p:spPr>
        <p:txBody>
          <a:bodyPr/>
          <a:lstStyle/>
          <a:p>
            <a:pPr algn="l" eaLnBrk="1" hangingPunct="1"/>
            <a:r>
              <a:rPr lang="en-IN" altLang="en-US" sz="2400" dirty="0" err="1">
                <a:latin typeface="Times New Roman" panose="02020603050405020304" pitchFamily="18" charset="0"/>
                <a:cs typeface="Times New Roman" panose="02020603050405020304" pitchFamily="18" charset="0"/>
              </a:rPr>
              <a:t>Abihassan</a:t>
            </a:r>
            <a:r>
              <a:rPr lang="en-IN" altLang="en-US" sz="2400" dirty="0">
                <a:latin typeface="Times New Roman" panose="02020603050405020304" pitchFamily="18" charset="0"/>
                <a:cs typeface="Times New Roman" panose="02020603050405020304" pitchFamily="18" charset="0"/>
              </a:rPr>
              <a:t> K       21137024</a:t>
            </a:r>
          </a:p>
          <a:p>
            <a:pPr algn="l" eaLnBrk="1" hangingPunct="1"/>
            <a:r>
              <a:rPr lang="en-IN" altLang="en-US" sz="2400" dirty="0">
                <a:latin typeface="Times New Roman" panose="02020603050405020304" pitchFamily="18" charset="0"/>
                <a:cs typeface="Times New Roman" panose="02020603050405020304" pitchFamily="18" charset="0"/>
              </a:rPr>
              <a:t>                                </a:t>
            </a:r>
          </a:p>
          <a:p>
            <a:pPr algn="l" eaLnBrk="1" hangingPunct="1"/>
            <a:endParaRPr lang="en-IN" altLang="en-US" sz="2400" dirty="0">
              <a:latin typeface="Times New Roman" panose="02020603050405020304" pitchFamily="18" charset="0"/>
              <a:cs typeface="Times New Roman" panose="02020603050405020304" pitchFamily="18" charset="0"/>
            </a:endParaRPr>
          </a:p>
        </p:txBody>
      </p:sp>
      <p:pic>
        <p:nvPicPr>
          <p:cNvPr id="5" name="image1.jpg" descr="A drawing of a face&#10;&#10;Description automatically generated"/>
          <p:cNvPicPr/>
          <p:nvPr/>
        </p:nvPicPr>
        <p:blipFill>
          <a:blip r:embed="rId2" cstate="print"/>
          <a:srcRect/>
          <a:stretch>
            <a:fillRect/>
          </a:stretch>
        </p:blipFill>
        <p:spPr>
          <a:xfrm>
            <a:off x="6324600" y="177800"/>
            <a:ext cx="2533319" cy="659958"/>
          </a:xfrm>
          <a:prstGeom prst="rect">
            <a:avLst/>
          </a:prstGeom>
          <a:ln/>
        </p:spPr>
      </p:pic>
      <p:sp>
        <p:nvSpPr>
          <p:cNvPr id="4" name="Footer Placeholder 3">
            <a:extLst>
              <a:ext uri="{FF2B5EF4-FFF2-40B4-BE49-F238E27FC236}">
                <a16:creationId xmlns:a16="http://schemas.microsoft.com/office/drawing/2014/main" id="{6228183E-8CE8-0864-E0AF-F88F4AA89BFC}"/>
              </a:ext>
            </a:extLst>
          </p:cNvPr>
          <p:cNvSpPr>
            <a:spLocks noGrp="1"/>
          </p:cNvSpPr>
          <p:nvPr>
            <p:ph type="ftr" sz="quarter" idx="11"/>
          </p:nvPr>
        </p:nvSpPr>
        <p:spPr>
          <a:xfrm>
            <a:off x="3028950" y="6356350"/>
            <a:ext cx="3086100" cy="365125"/>
          </a:xfrm>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91571FD-C06A-AEFD-D047-7A33F984C95F}"/>
              </a:ext>
            </a:extLst>
          </p:cNvPr>
          <p:cNvSpPr>
            <a:spLocks noGrp="1" noChangeArrowheads="1"/>
          </p:cNvSpPr>
          <p:nvPr>
            <p:ph type="title"/>
          </p:nvPr>
        </p:nvSpPr>
        <p:spPr>
          <a:xfrm>
            <a:off x="660400" y="581025"/>
            <a:ext cx="7886700" cy="1325563"/>
          </a:xfrm>
        </p:spPr>
        <p:txBody>
          <a:bodyPr rtlCol="0">
            <a:normAutofit/>
          </a:bodyPr>
          <a:lstStyle/>
          <a:p>
            <a:pPr eaLnBrk="1" fontAlgn="auto" hangingPunct="1">
              <a:spcAft>
                <a:spcPts val="0"/>
              </a:spcAft>
              <a:defRPr/>
            </a:pPr>
            <a:r>
              <a:rPr lang="en-US" altLang="en-US" b="1" dirty="0">
                <a:latin typeface="Times New Roman" panose="02020603050405020304" pitchFamily="18" charset="0"/>
                <a:cs typeface="Times New Roman" panose="02020603050405020304" pitchFamily="18" charset="0"/>
              </a:rPr>
              <a:t>Agenda for the review</a:t>
            </a:r>
            <a:endParaRPr lang="en-US" altLang="en-US"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243" name="Rectangle 3">
            <a:extLst>
              <a:ext uri="{FF2B5EF4-FFF2-40B4-BE49-F238E27FC236}">
                <a16:creationId xmlns:a16="http://schemas.microsoft.com/office/drawing/2014/main" id="{1EC25644-0967-43D7-17A2-92D06FDB3851}"/>
              </a:ext>
            </a:extLst>
          </p:cNvPr>
          <p:cNvSpPr>
            <a:spLocks noGrp="1" noChangeArrowheads="1"/>
          </p:cNvSpPr>
          <p:nvPr>
            <p:ph idx="1"/>
          </p:nvPr>
        </p:nvSpPr>
        <p:spPr/>
        <p:txBody>
          <a:bodyPr rtlCol="0">
            <a:normAutofit fontScale="92500" lnSpcReduction="10000"/>
          </a:bodyPr>
          <a:lstStyle/>
          <a:p>
            <a:pPr marL="0" indent="0" eaLnBrk="1" fontAlgn="auto" hangingPunct="1">
              <a:spcAft>
                <a:spcPts val="0"/>
              </a:spcAft>
              <a:buFont typeface="Arial" panose="020B0604020202020204" pitchFamily="34" charset="0"/>
              <a:buNone/>
              <a:defRPr/>
            </a:pPr>
            <a:endParaRPr lang="en-US" altLang="en-US" dirty="0"/>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Introduction</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Goals and Motivation</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Literature review</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Problem Definition</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Objective</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Proposed System/Work</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Architecture Diagram</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Module List</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Modular Description</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Result and Discussion</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Future work</a:t>
            </a:r>
          </a:p>
          <a:p>
            <a:pPr eaLnBrk="1" fontAlgn="auto" hangingPunct="1">
              <a:spcAft>
                <a:spcPts val="0"/>
              </a:spcAft>
              <a:defRPr/>
            </a:pPr>
            <a:r>
              <a:rPr lang="en-US" altLang="en-US" dirty="0">
                <a:latin typeface="Times New Roman" panose="02020603050405020304" pitchFamily="18" charset="0"/>
                <a:cs typeface="Times New Roman" panose="02020603050405020304" pitchFamily="18" charset="0"/>
              </a:rPr>
              <a:t>References</a:t>
            </a:r>
          </a:p>
          <a:p>
            <a:pPr marL="0" indent="0" eaLnBrk="1" fontAlgn="auto" hangingPunct="1">
              <a:spcAft>
                <a:spcPts val="0"/>
              </a:spcAft>
              <a:buFont typeface="Arial" panose="020B0604020202020204" pitchFamily="34" charset="0"/>
              <a:buNone/>
              <a:defRPr/>
            </a:pPr>
            <a:endParaRPr lang="en-US" altLang="en-US" dirty="0"/>
          </a:p>
          <a:p>
            <a:pPr eaLnBrk="1" fontAlgn="auto" hangingPunct="1">
              <a:spcAft>
                <a:spcPts val="0"/>
              </a:spcAft>
              <a:defRPr/>
            </a:pPr>
            <a:endParaRPr lang="en-US" altLang="en-US" dirty="0"/>
          </a:p>
        </p:txBody>
      </p:sp>
      <p:sp>
        <p:nvSpPr>
          <p:cNvPr id="4" name="Slide Number Placeholder 3">
            <a:extLst>
              <a:ext uri="{FF2B5EF4-FFF2-40B4-BE49-F238E27FC236}">
                <a16:creationId xmlns:a16="http://schemas.microsoft.com/office/drawing/2014/main" id="{142838BE-A3A4-C058-E593-93C3DC43A937}"/>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3A621E8-BDFC-458A-A8BF-1376CC700499}" type="slidenum">
              <a:rPr lang="en-US" altLang="en-US">
                <a:solidFill>
                  <a:srgbClr val="898989"/>
                </a:solidFill>
              </a:rPr>
              <a:pPr/>
              <a:t>2</a:t>
            </a:fld>
            <a:endParaRPr lang="en-US" altLang="en-US" dirty="0">
              <a:solidFill>
                <a:srgbClr val="898989"/>
              </a:solidFill>
            </a:endParaRPr>
          </a:p>
        </p:txBody>
      </p:sp>
      <p:pic>
        <p:nvPicPr>
          <p:cNvPr id="7" name="image1.jpg" descr="A drawing of a face&#10;&#10;Description automatically generated"/>
          <p:cNvPicPr/>
          <p:nvPr/>
        </p:nvPicPr>
        <p:blipFill>
          <a:blip r:embed="rId2" cstate="print"/>
          <a:srcRect/>
          <a:stretch>
            <a:fillRect/>
          </a:stretch>
        </p:blipFill>
        <p:spPr>
          <a:xfrm>
            <a:off x="6400800" y="228600"/>
            <a:ext cx="2533319" cy="659958"/>
          </a:xfrm>
          <a:prstGeom prst="rect">
            <a:avLst/>
          </a:prstGeom>
          <a:ln/>
        </p:spPr>
      </p:pic>
      <p:sp>
        <p:nvSpPr>
          <p:cNvPr id="3" name="Footer Placeholder 3">
            <a:extLst>
              <a:ext uri="{FF2B5EF4-FFF2-40B4-BE49-F238E27FC236}">
                <a16:creationId xmlns:a16="http://schemas.microsoft.com/office/drawing/2014/main" id="{37B5B210-2E31-283D-CA88-BAAD22E21DB0}"/>
              </a:ext>
            </a:extLst>
          </p:cNvPr>
          <p:cNvSpPr>
            <a:spLocks noGrp="1"/>
          </p:cNvSpPr>
          <p:nvPr>
            <p:ph type="ftr" sz="quarter" idx="11"/>
          </p:nvPr>
        </p:nvSpPr>
        <p:spPr>
          <a:xfrm>
            <a:off x="3028950" y="6356350"/>
            <a:ext cx="3086100" cy="365125"/>
          </a:xfrm>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BE95E-1FAE-C966-7F7D-8DB8C8DDD602}"/>
              </a:ext>
            </a:extLst>
          </p:cNvPr>
          <p:cNvSpPr>
            <a:spLocks noGrp="1"/>
          </p:cNvSpPr>
          <p:nvPr>
            <p:ph type="title"/>
          </p:nvPr>
        </p:nvSpPr>
        <p:spPr>
          <a:xfrm>
            <a:off x="628650" y="314325"/>
            <a:ext cx="7886700" cy="1325563"/>
          </a:xfrm>
        </p:spPr>
        <p:txBody>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D92C7B-BF20-D19F-065D-56AB10B672C9}"/>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Ornithopter Control System for Defense and Rescue is designed to mimic the flight of birds, providing a highly agile and efficient aerial platform. This system is intended for defense operations and disaster rescue missions, offering surveillance, threat detection, and victim identification. Equipped with advanced controls and sensors, it can access difficult terrains, monitor real-time situations, and support emergency teams. Future developments include incorporating machine learning for autonomous navigation and live threat detection, enhancing its utility in critical operations.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38D48BA-8B7D-B7B8-A063-98CDAA879CFD}"/>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6D3F0841-E4DC-B177-6617-3A1E67AD0AAE}"/>
              </a:ext>
            </a:extLst>
          </p:cNvPr>
          <p:cNvSpPr>
            <a:spLocks noGrp="1"/>
          </p:cNvSpPr>
          <p:nvPr>
            <p:ph type="sldNum" sz="quarter" idx="12"/>
          </p:nvPr>
        </p:nvSpPr>
        <p:spPr/>
        <p:txBody>
          <a:bodyPr/>
          <a:lstStyle/>
          <a:p>
            <a:fld id="{9D73CAE4-B13A-4AC7-ABCD-5EDF85FE4EA2}" type="slidenum">
              <a:rPr lang="en-US" altLang="en-US" smtClean="0"/>
              <a:pPr/>
              <a:t>3</a:t>
            </a:fld>
            <a:endParaRPr lang="en-US" altLang="en-US"/>
          </a:p>
        </p:txBody>
      </p:sp>
      <p:pic>
        <p:nvPicPr>
          <p:cNvPr id="6" name="image1.jpg" descr="A drawing of a face&#10;&#10;Description automatically generated">
            <a:extLst>
              <a:ext uri="{FF2B5EF4-FFF2-40B4-BE49-F238E27FC236}">
                <a16:creationId xmlns:a16="http://schemas.microsoft.com/office/drawing/2014/main" id="{6C4576B3-AB02-B613-AC83-97C89BA3C4A3}"/>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721502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B751-1F97-220B-F675-C4B5CB8C8E3F}"/>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7A6FA422-2C2E-26E6-AEDF-BD9BE395319E}"/>
              </a:ext>
            </a:extLst>
          </p:cNvPr>
          <p:cNvSpPr>
            <a:spLocks noGrp="1"/>
          </p:cNvSpPr>
          <p:nvPr>
            <p:ph idx="1"/>
          </p:nvPr>
        </p:nvSpPr>
        <p:spPr/>
        <p:txBody>
          <a:bodyPr/>
          <a:lstStyle/>
          <a:p>
            <a:pPr marL="0" indent="0" algn="just">
              <a:buNone/>
            </a:pPr>
            <a:r>
              <a:rPr lang="en-US" dirty="0"/>
              <a:t>The Ornithopter Control System for Defense and Rescue is an innovative aerial vehicle designed to mimic the flight mechanics of birds. Combining agility with advanced control mechanisms, it is highly suited for defense surveillance and rescue missions in challenging environments. This system aims to enhance operations in areas where conventional drones or helicopters face limitations. By incorporating sensors and advanced control features, it offers real-time monitoring and navigates complex terrains, providing valuable support in both military and civilian emergency situations.</a:t>
            </a:r>
            <a:endParaRPr lang="en-IN" dirty="0"/>
          </a:p>
        </p:txBody>
      </p:sp>
      <p:sp>
        <p:nvSpPr>
          <p:cNvPr id="4" name="Footer Placeholder 3">
            <a:extLst>
              <a:ext uri="{FF2B5EF4-FFF2-40B4-BE49-F238E27FC236}">
                <a16:creationId xmlns:a16="http://schemas.microsoft.com/office/drawing/2014/main" id="{3447625C-08B2-A1B0-2964-EE896988D9B6}"/>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D32523F5-6353-37FF-BCD7-9C9B0D988EAE}"/>
              </a:ext>
            </a:extLst>
          </p:cNvPr>
          <p:cNvSpPr>
            <a:spLocks noGrp="1"/>
          </p:cNvSpPr>
          <p:nvPr>
            <p:ph type="sldNum" sz="quarter" idx="12"/>
          </p:nvPr>
        </p:nvSpPr>
        <p:spPr/>
        <p:txBody>
          <a:bodyPr/>
          <a:lstStyle/>
          <a:p>
            <a:fld id="{9D73CAE4-B13A-4AC7-ABCD-5EDF85FE4EA2}" type="slidenum">
              <a:rPr lang="en-US" altLang="en-US" smtClean="0"/>
              <a:pPr/>
              <a:t>4</a:t>
            </a:fld>
            <a:endParaRPr lang="en-US" altLang="en-US"/>
          </a:p>
        </p:txBody>
      </p:sp>
      <p:pic>
        <p:nvPicPr>
          <p:cNvPr id="6" name="image1.jpg" descr="A drawing of a face&#10;&#10;Description automatically generated">
            <a:extLst>
              <a:ext uri="{FF2B5EF4-FFF2-40B4-BE49-F238E27FC236}">
                <a16:creationId xmlns:a16="http://schemas.microsoft.com/office/drawing/2014/main" id="{A6BCD013-CCE8-64FA-FC2D-B73A1A50DA4B}"/>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90857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C4D9-B296-C3E7-6BFB-0A61C3533F52}"/>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Goals and Motivation</a:t>
            </a:r>
            <a:endParaRPr lang="en-IN" dirty="0"/>
          </a:p>
        </p:txBody>
      </p:sp>
      <p:sp>
        <p:nvSpPr>
          <p:cNvPr id="3" name="Content Placeholder 2">
            <a:extLst>
              <a:ext uri="{FF2B5EF4-FFF2-40B4-BE49-F238E27FC236}">
                <a16:creationId xmlns:a16="http://schemas.microsoft.com/office/drawing/2014/main" id="{077C7E2E-B6CC-E502-AAEC-717C0526F743}"/>
              </a:ext>
            </a:extLst>
          </p:cNvPr>
          <p:cNvSpPr>
            <a:spLocks noGrp="1"/>
          </p:cNvSpPr>
          <p:nvPr>
            <p:ph idx="1"/>
          </p:nvPr>
        </p:nvSpPr>
        <p:spPr/>
        <p:txBody>
          <a:bodyPr/>
          <a:lstStyle/>
          <a:p>
            <a:pPr marL="0" indent="0" algn="just">
              <a:buNone/>
            </a:pPr>
            <a:r>
              <a:rPr lang="en-US" dirty="0">
                <a:cs typeface="Times New Roman" panose="02020603050405020304" pitchFamily="18" charset="0"/>
              </a:rPr>
              <a:t>The primary goal of the Ornithopter Control System for Defense and Rescue is to create a highly maneuverable aerial platform for real-time surveillance, threat detection, and rescue missions. Inspired by bird flight, it aims to access challenging terrains where conventional aircraft struggle. The motivation behind this project is to enhance defense operations and improve disaster response efficiency, ultimately saving lives by delivering faster, more precise support in critical situations and hard-to-reach areas.</a:t>
            </a:r>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A3F4938-0FB2-7C8F-5896-85B21621B5D9}"/>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0B54AE8F-F459-DE80-A9E2-41EF1289925B}"/>
              </a:ext>
            </a:extLst>
          </p:cNvPr>
          <p:cNvSpPr>
            <a:spLocks noGrp="1"/>
          </p:cNvSpPr>
          <p:nvPr>
            <p:ph type="sldNum" sz="quarter" idx="12"/>
          </p:nvPr>
        </p:nvSpPr>
        <p:spPr/>
        <p:txBody>
          <a:bodyPr/>
          <a:lstStyle/>
          <a:p>
            <a:fld id="{9D73CAE4-B13A-4AC7-ABCD-5EDF85FE4EA2}" type="slidenum">
              <a:rPr lang="en-US" altLang="en-US" smtClean="0"/>
              <a:pPr/>
              <a:t>5</a:t>
            </a:fld>
            <a:endParaRPr lang="en-US" altLang="en-US"/>
          </a:p>
        </p:txBody>
      </p:sp>
      <p:pic>
        <p:nvPicPr>
          <p:cNvPr id="6" name="image1.jpg" descr="A drawing of a face&#10;&#10;Description automatically generated">
            <a:extLst>
              <a:ext uri="{FF2B5EF4-FFF2-40B4-BE49-F238E27FC236}">
                <a16:creationId xmlns:a16="http://schemas.microsoft.com/office/drawing/2014/main" id="{A68D5CC4-01CB-B460-233F-930C79915881}"/>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1332925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6F3DA-BDDC-4513-5F90-2C57A5123FEC}"/>
              </a:ext>
            </a:extLst>
          </p:cNvPr>
          <p:cNvSpPr>
            <a:spLocks noGrp="1"/>
          </p:cNvSpPr>
          <p:nvPr>
            <p:ph type="title"/>
          </p:nvPr>
        </p:nvSpPr>
        <p:spPr>
          <a:xfrm>
            <a:off x="628650" y="-155003"/>
            <a:ext cx="7886700" cy="1325563"/>
          </a:xfrm>
        </p:spPr>
        <p:txBody>
          <a:bodyPr/>
          <a:lstStyle/>
          <a:p>
            <a:r>
              <a:rPr lang="en-US" altLang="en-US" b="1" dirty="0">
                <a:latin typeface="Times New Roman" panose="02020603050405020304" pitchFamily="18" charset="0"/>
                <a:cs typeface="Times New Roman" panose="02020603050405020304" pitchFamily="18" charset="0"/>
              </a:rPr>
              <a:t>Literature review</a:t>
            </a:r>
            <a:endParaRPr lang="en-IN" b="1" dirty="0"/>
          </a:p>
        </p:txBody>
      </p:sp>
      <p:sp>
        <p:nvSpPr>
          <p:cNvPr id="4" name="Footer Placeholder 3">
            <a:extLst>
              <a:ext uri="{FF2B5EF4-FFF2-40B4-BE49-F238E27FC236}">
                <a16:creationId xmlns:a16="http://schemas.microsoft.com/office/drawing/2014/main" id="{FFA0DF0E-71F0-AAB3-B91C-B2BCF710947E}"/>
              </a:ext>
            </a:extLst>
          </p:cNvPr>
          <p:cNvSpPr>
            <a:spLocks noGrp="1"/>
          </p:cNvSpPr>
          <p:nvPr>
            <p:ph type="ftr" sz="quarter" idx="11"/>
          </p:nvPr>
        </p:nvSpPr>
        <p:spPr/>
        <p:txBody>
          <a:bodyPr/>
          <a:lstStyle/>
          <a:p>
            <a:pPr>
              <a:defRPr/>
            </a:pPr>
            <a:r>
              <a:rPr lang="en-US" dirty="0"/>
              <a:t>DEPT. of CSE AI&amp;ML </a:t>
            </a:r>
            <a:r>
              <a:rPr lang="en-US" sz="900" b="1" dirty="0">
                <a:latin typeface="Times New Roman" pitchFamily="18" charset="0"/>
                <a:cs typeface="Times New Roman" pitchFamily="18" charset="0"/>
              </a:rPr>
              <a:t>CSB4332 </a:t>
            </a:r>
            <a:r>
              <a:rPr lang="en-US" dirty="0"/>
              <a:t>-Design Project with IOT</a:t>
            </a:r>
          </a:p>
        </p:txBody>
      </p:sp>
      <p:sp>
        <p:nvSpPr>
          <p:cNvPr id="5" name="Slide Number Placeholder 4">
            <a:extLst>
              <a:ext uri="{FF2B5EF4-FFF2-40B4-BE49-F238E27FC236}">
                <a16:creationId xmlns:a16="http://schemas.microsoft.com/office/drawing/2014/main" id="{3986F2FA-2443-3F63-15A1-38C3AF661258}"/>
              </a:ext>
            </a:extLst>
          </p:cNvPr>
          <p:cNvSpPr>
            <a:spLocks noGrp="1"/>
          </p:cNvSpPr>
          <p:nvPr>
            <p:ph type="sldNum" sz="quarter" idx="12"/>
          </p:nvPr>
        </p:nvSpPr>
        <p:spPr/>
        <p:txBody>
          <a:bodyPr/>
          <a:lstStyle/>
          <a:p>
            <a:fld id="{9D73CAE4-B13A-4AC7-ABCD-5EDF85FE4EA2}" type="slidenum">
              <a:rPr lang="en-US" altLang="en-US" smtClean="0"/>
              <a:pPr/>
              <a:t>6</a:t>
            </a:fld>
            <a:endParaRPr lang="en-US" altLang="en-US"/>
          </a:p>
        </p:txBody>
      </p:sp>
      <p:graphicFrame>
        <p:nvGraphicFramePr>
          <p:cNvPr id="6" name="Content Placeholder 3">
            <a:extLst>
              <a:ext uri="{FF2B5EF4-FFF2-40B4-BE49-F238E27FC236}">
                <a16:creationId xmlns:a16="http://schemas.microsoft.com/office/drawing/2014/main" id="{DD71BC61-77F7-54CD-CD52-367924BD1AAB}"/>
              </a:ext>
            </a:extLst>
          </p:cNvPr>
          <p:cNvGraphicFramePr>
            <a:graphicFrameLocks noGrp="1"/>
          </p:cNvGraphicFramePr>
          <p:nvPr>
            <p:ph idx="1"/>
            <p:extLst>
              <p:ext uri="{D42A27DB-BD31-4B8C-83A1-F6EECF244321}">
                <p14:modId xmlns:p14="http://schemas.microsoft.com/office/powerpoint/2010/main" val="1744628959"/>
              </p:ext>
            </p:extLst>
          </p:nvPr>
        </p:nvGraphicFramePr>
        <p:xfrm>
          <a:off x="315899" y="899747"/>
          <a:ext cx="8572500" cy="5821728"/>
        </p:xfrm>
        <a:graphic>
          <a:graphicData uri="http://schemas.openxmlformats.org/drawingml/2006/table">
            <a:tbl>
              <a:tblPr firstRow="1" bandRow="1">
                <a:tableStyleId>{5C22544A-7EE6-4342-B048-85BDC9FD1C3A}</a:tableStyleId>
              </a:tblPr>
              <a:tblGrid>
                <a:gridCol w="427834">
                  <a:extLst>
                    <a:ext uri="{9D8B030D-6E8A-4147-A177-3AD203B41FA5}">
                      <a16:colId xmlns:a16="http://schemas.microsoft.com/office/drawing/2014/main" val="2738810962"/>
                    </a:ext>
                  </a:extLst>
                </a:gridCol>
                <a:gridCol w="1810121">
                  <a:extLst>
                    <a:ext uri="{9D8B030D-6E8A-4147-A177-3AD203B41FA5}">
                      <a16:colId xmlns:a16="http://schemas.microsoft.com/office/drawing/2014/main" val="2086860346"/>
                    </a:ext>
                  </a:extLst>
                </a:gridCol>
                <a:gridCol w="1441393">
                  <a:extLst>
                    <a:ext uri="{9D8B030D-6E8A-4147-A177-3AD203B41FA5}">
                      <a16:colId xmlns:a16="http://schemas.microsoft.com/office/drawing/2014/main" val="3416470480"/>
                    </a:ext>
                  </a:extLst>
                </a:gridCol>
                <a:gridCol w="1186686">
                  <a:extLst>
                    <a:ext uri="{9D8B030D-6E8A-4147-A177-3AD203B41FA5}">
                      <a16:colId xmlns:a16="http://schemas.microsoft.com/office/drawing/2014/main" val="697034839"/>
                    </a:ext>
                  </a:extLst>
                </a:gridCol>
                <a:gridCol w="1987826">
                  <a:extLst>
                    <a:ext uri="{9D8B030D-6E8A-4147-A177-3AD203B41FA5}">
                      <a16:colId xmlns:a16="http://schemas.microsoft.com/office/drawing/2014/main" val="3568170127"/>
                    </a:ext>
                  </a:extLst>
                </a:gridCol>
                <a:gridCol w="1718640">
                  <a:extLst>
                    <a:ext uri="{9D8B030D-6E8A-4147-A177-3AD203B41FA5}">
                      <a16:colId xmlns:a16="http://schemas.microsoft.com/office/drawing/2014/main" val="3185858228"/>
                    </a:ext>
                  </a:extLst>
                </a:gridCol>
              </a:tblGrid>
              <a:tr h="1192374">
                <a:tc>
                  <a:txBody>
                    <a:bodyPr/>
                    <a:lstStyle/>
                    <a:p>
                      <a:pPr algn="ctr"/>
                      <a:r>
                        <a:rPr lang="en-IN" sz="1400" dirty="0">
                          <a:latin typeface="Times New Roman" panose="02020603050405020304" pitchFamily="18" charset="0"/>
                          <a:cs typeface="Times New Roman" panose="02020603050405020304" pitchFamily="18" charset="0"/>
                        </a:rPr>
                        <a:t>S.</a:t>
                      </a:r>
                    </a:p>
                    <a:p>
                      <a:pPr algn="ctr"/>
                      <a:r>
                        <a:rPr lang="en-IN" sz="1400" dirty="0">
                          <a:latin typeface="Times New Roman" panose="02020603050405020304" pitchFamily="18" charset="0"/>
                          <a:cs typeface="Times New Roman" panose="02020603050405020304" pitchFamily="18" charset="0"/>
                        </a:rPr>
                        <a:t>No</a:t>
                      </a:r>
                    </a:p>
                  </a:txBody>
                  <a:tcPr marT="45728" marB="45728"/>
                </a:tc>
                <a:tc>
                  <a:txBody>
                    <a:bodyPr/>
                    <a:lstStyle/>
                    <a:p>
                      <a:pPr algn="ctr"/>
                      <a:r>
                        <a:rPr lang="en-IN" sz="1400" dirty="0">
                          <a:latin typeface="Times New Roman" panose="02020603050405020304" pitchFamily="18" charset="0"/>
                          <a:cs typeface="Times New Roman" panose="02020603050405020304" pitchFamily="18" charset="0"/>
                        </a:rPr>
                        <a:t>Title of the paper/System</a:t>
                      </a:r>
                    </a:p>
                  </a:txBody>
                  <a:tcPr marT="45728" marB="45728"/>
                </a:tc>
                <a:tc>
                  <a:txBody>
                    <a:bodyPr/>
                    <a:lstStyle/>
                    <a:p>
                      <a:pPr algn="ctr"/>
                      <a:r>
                        <a:rPr lang="en-IN" sz="1400" dirty="0">
                          <a:latin typeface="Times New Roman" panose="02020603050405020304" pitchFamily="18" charset="0"/>
                          <a:cs typeface="Times New Roman" panose="02020603050405020304" pitchFamily="18" charset="0"/>
                        </a:rPr>
                        <a:t>Authors</a:t>
                      </a:r>
                    </a:p>
                  </a:txBody>
                  <a:tcPr marT="45728" marB="45728"/>
                </a:tc>
                <a:tc>
                  <a:txBody>
                    <a:bodyPr/>
                    <a:lstStyle/>
                    <a:p>
                      <a:pPr algn="ctr"/>
                      <a:r>
                        <a:rPr lang="en-IN" sz="1400" dirty="0">
                          <a:latin typeface="Times New Roman" panose="02020603050405020304" pitchFamily="18" charset="0"/>
                          <a:cs typeface="Times New Roman" panose="02020603050405020304" pitchFamily="18" charset="0"/>
                        </a:rPr>
                        <a:t>Publication (Name of the Journal/Conference</a:t>
                      </a:r>
                      <a:r>
                        <a:rPr lang="en-IN" sz="1400" baseline="0" dirty="0">
                          <a:latin typeface="Times New Roman" panose="02020603050405020304" pitchFamily="18" charset="0"/>
                          <a:cs typeface="Times New Roman" panose="02020603050405020304" pitchFamily="18" charset="0"/>
                        </a:rPr>
                        <a:t> proceedings with Year)</a:t>
                      </a: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algn="ctr"/>
                      <a:r>
                        <a:rPr lang="en-IN" sz="1400" dirty="0">
                          <a:latin typeface="Times New Roman" panose="02020603050405020304" pitchFamily="18" charset="0"/>
                          <a:cs typeface="Times New Roman" panose="02020603050405020304" pitchFamily="18" charset="0"/>
                        </a:rPr>
                        <a:t>Algorithm/Methodology adopted</a:t>
                      </a:r>
                    </a:p>
                  </a:txBody>
                  <a:tcPr marT="45728" marB="45728"/>
                </a:tc>
                <a:tc>
                  <a:txBody>
                    <a:bodyPr/>
                    <a:lstStyle/>
                    <a:p>
                      <a:pPr algn="ctr"/>
                      <a:r>
                        <a:rPr lang="en-IN" sz="1400" dirty="0">
                          <a:latin typeface="Times New Roman" panose="02020603050405020304" pitchFamily="18" charset="0"/>
                          <a:cs typeface="Times New Roman" panose="02020603050405020304" pitchFamily="18" charset="0"/>
                        </a:rPr>
                        <a:t>Limitations</a:t>
                      </a:r>
                    </a:p>
                  </a:txBody>
                  <a:tcPr marT="45728" marB="45728"/>
                </a:tc>
                <a:extLst>
                  <a:ext uri="{0D108BD9-81ED-4DB2-BD59-A6C34878D82A}">
                    <a16:rowId xmlns:a16="http://schemas.microsoft.com/office/drawing/2014/main" val="1339749209"/>
                  </a:ext>
                </a:extLst>
              </a:tr>
              <a:tr h="1934288">
                <a:tc>
                  <a:txBody>
                    <a:bodyPr/>
                    <a:lstStyle/>
                    <a:p>
                      <a:pPr algn="ctr"/>
                      <a:r>
                        <a:rPr lang="en-IN" sz="1400" dirty="0">
                          <a:latin typeface="Times New Roman" panose="02020603050405020304" pitchFamily="18" charset="0"/>
                          <a:cs typeface="Times New Roman" panose="02020603050405020304" pitchFamily="18" charset="0"/>
                        </a:rPr>
                        <a:t>1.</a:t>
                      </a:r>
                    </a:p>
                    <a:p>
                      <a:pPr algn="ct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t>Real-Time Obstacle Avoidance for Flapping-Wing Drones Using Computer Vision</a:t>
                      </a:r>
                      <a:endParaRPr lang="en-IN" sz="1400" dirty="0"/>
                    </a:p>
                    <a:p>
                      <a:pPr algn="ctr"/>
                      <a:endParaRPr lang="en-US"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pt-BR" sz="1400" dirty="0"/>
                        <a:t>E. Martinez, F. Gomez, A. Delgado</a:t>
                      </a:r>
                      <a:endParaRPr lang="en-IN" sz="1400" dirty="0"/>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t>IEEE Robotics and Automation Letters, 2023</a:t>
                      </a:r>
                      <a:endParaRPr lang="en-IN" sz="1400" dirty="0"/>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t>The study integrates computer vision with real-time obstacle avoidance algorithms, enabling the ornithopter to navigate complex environments while avoiding collisions.</a:t>
                      </a:r>
                      <a:endParaRPr lang="en-IN" sz="1400" dirty="0"/>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t>The system's effectiveness may be reduced in low-light conditions or highly cluttered environments, requiring further adaptation for robustness.</a:t>
                      </a:r>
                      <a:endParaRPr lang="en-IN" sz="1400" dirty="0"/>
                    </a:p>
                    <a:p>
                      <a:pPr algn="ctr"/>
                      <a:endParaRPr lang="en-IN" sz="1400" dirty="0">
                        <a:latin typeface="Times New Roman" panose="02020603050405020304" pitchFamily="18" charset="0"/>
                        <a:cs typeface="Times New Roman" panose="02020603050405020304" pitchFamily="18" charset="0"/>
                      </a:endParaRPr>
                    </a:p>
                  </a:txBody>
                  <a:tcPr marT="45728" marB="45728"/>
                </a:tc>
                <a:extLst>
                  <a:ext uri="{0D108BD9-81ED-4DB2-BD59-A6C34878D82A}">
                    <a16:rowId xmlns:a16="http://schemas.microsoft.com/office/drawing/2014/main" val="3118891209"/>
                  </a:ext>
                </a:extLst>
              </a:tr>
              <a:tr h="1934288">
                <a:tc>
                  <a:txBody>
                    <a:bodyPr/>
                    <a:lstStyle/>
                    <a:p>
                      <a:pPr algn="ctr"/>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Advanced Materials for Flapping-Wing Ornithopters: A Review</a:t>
                      </a:r>
                    </a:p>
                    <a:p>
                      <a:pPr algn="ctr"/>
                      <a:endParaRPr lang="en-US"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 B. Smith, H. J. Lee, K. M. Brown</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Composite Structures, 2023</a:t>
                      </a:r>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This review paper focuses on the use of advanced composite materials in the design of flapping-wing ornithopters, evaluating their impact on flight performance and durability.</a:t>
                      </a:r>
                      <a:endParaRPr lang="en-IN" sz="1400" dirty="0">
                        <a:latin typeface="Times New Roman" panose="02020603050405020304" pitchFamily="18" charset="0"/>
                        <a:cs typeface="Times New Roman" panose="02020603050405020304" pitchFamily="18" charset="0"/>
                      </a:endParaRPr>
                    </a:p>
                    <a:p>
                      <a:pPr algn="ctr"/>
                      <a:endParaRPr lang="en-IN" sz="1400" dirty="0">
                        <a:latin typeface="Times New Roman" panose="02020603050405020304" pitchFamily="18" charset="0"/>
                        <a:cs typeface="Times New Roman" panose="02020603050405020304" pitchFamily="18" charset="0"/>
                      </a:endParaRPr>
                    </a:p>
                  </a:txBody>
                  <a:tcPr marT="45728" marB="45728"/>
                </a:tc>
                <a:tc>
                  <a:txBody>
                    <a:bodyPr/>
                    <a:lstStyle/>
                    <a:p>
                      <a:pPr algn="ctr"/>
                      <a:r>
                        <a:rPr lang="en-US" sz="1400" dirty="0">
                          <a:latin typeface="Times New Roman" panose="02020603050405020304" pitchFamily="18" charset="0"/>
                          <a:cs typeface="Times New Roman" panose="02020603050405020304" pitchFamily="18" charset="0"/>
                        </a:rPr>
                        <a:t>The review primarily discusses material properties without delving deeply into specific flight control algorithms or real-world application challenges</a:t>
                      </a:r>
                      <a:endParaRPr lang="en-IN" sz="1400" dirty="0">
                        <a:latin typeface="Times New Roman" panose="02020603050405020304" pitchFamily="18" charset="0"/>
                        <a:cs typeface="Times New Roman" panose="02020603050405020304" pitchFamily="18" charset="0"/>
                      </a:endParaRPr>
                    </a:p>
                  </a:txBody>
                  <a:tcPr marT="45728" marB="45728"/>
                </a:tc>
                <a:extLst>
                  <a:ext uri="{0D108BD9-81ED-4DB2-BD59-A6C34878D82A}">
                    <a16:rowId xmlns:a16="http://schemas.microsoft.com/office/drawing/2014/main" val="524829803"/>
                  </a:ext>
                </a:extLst>
              </a:tr>
            </a:tbl>
          </a:graphicData>
        </a:graphic>
      </p:graphicFrame>
      <p:pic>
        <p:nvPicPr>
          <p:cNvPr id="7" name="image1.jpg" descr="A drawing of a face&#10;&#10;Description automatically generated">
            <a:extLst>
              <a:ext uri="{FF2B5EF4-FFF2-40B4-BE49-F238E27FC236}">
                <a16:creationId xmlns:a16="http://schemas.microsoft.com/office/drawing/2014/main" id="{46B7DC4D-CE5F-2F09-AA28-FD13732D6612}"/>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3711950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39BEA-3888-5E1C-E260-B06CC4F7C3C5}"/>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Problem Definition</a:t>
            </a:r>
            <a:endParaRPr lang="en-IN" dirty="0"/>
          </a:p>
        </p:txBody>
      </p:sp>
      <p:sp>
        <p:nvSpPr>
          <p:cNvPr id="3" name="Content Placeholder 2">
            <a:extLst>
              <a:ext uri="{FF2B5EF4-FFF2-40B4-BE49-F238E27FC236}">
                <a16:creationId xmlns:a16="http://schemas.microsoft.com/office/drawing/2014/main" id="{9425510C-33EE-80BC-6366-6A36A6DC9952}"/>
              </a:ext>
            </a:extLst>
          </p:cNvPr>
          <p:cNvSpPr>
            <a:spLocks noGrp="1"/>
          </p:cNvSpPr>
          <p:nvPr>
            <p:ph idx="1"/>
          </p:nvPr>
        </p:nvSpPr>
        <p:spPr/>
        <p:txBody>
          <a:bodyPr/>
          <a:lstStyle/>
          <a:p>
            <a:pPr algn="just"/>
            <a:r>
              <a:rPr lang="en-US" dirty="0"/>
              <a:t>Conventional drones struggle in difficult terrains like forests, mountains, or collapsed structures during rescue operations.</a:t>
            </a:r>
          </a:p>
          <a:p>
            <a:pPr algn="just"/>
            <a:r>
              <a:rPr lang="en-US" dirty="0"/>
              <a:t>Current surveillance systems may not provide immediate identification of threats in defense missions.</a:t>
            </a:r>
          </a:p>
          <a:p>
            <a:pPr algn="just"/>
            <a:r>
              <a:rPr lang="en-US" dirty="0"/>
              <a:t>Many aerial systems require constant human intervention, reducing efficiency in critical situations.</a:t>
            </a:r>
          </a:p>
          <a:p>
            <a:pPr algn="just"/>
            <a:r>
              <a:rPr lang="en-US" dirty="0"/>
              <a:t>Efficiently locating and identifying survivors in disaster areas remains a challenge for current rescue technologies.</a:t>
            </a:r>
          </a:p>
          <a:p>
            <a:endParaRPr lang="en-IN" dirty="0"/>
          </a:p>
        </p:txBody>
      </p:sp>
      <p:sp>
        <p:nvSpPr>
          <p:cNvPr id="4" name="Footer Placeholder 3">
            <a:extLst>
              <a:ext uri="{FF2B5EF4-FFF2-40B4-BE49-F238E27FC236}">
                <a16:creationId xmlns:a16="http://schemas.microsoft.com/office/drawing/2014/main" id="{EB9316ED-2C4C-836C-42BB-353433B88FCF}"/>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01A2F6BE-4C1E-B605-9D49-B622550F9EC0}"/>
              </a:ext>
            </a:extLst>
          </p:cNvPr>
          <p:cNvSpPr>
            <a:spLocks noGrp="1"/>
          </p:cNvSpPr>
          <p:nvPr>
            <p:ph type="sldNum" sz="quarter" idx="12"/>
          </p:nvPr>
        </p:nvSpPr>
        <p:spPr/>
        <p:txBody>
          <a:bodyPr/>
          <a:lstStyle/>
          <a:p>
            <a:fld id="{9D73CAE4-B13A-4AC7-ABCD-5EDF85FE4EA2}" type="slidenum">
              <a:rPr lang="en-US" altLang="en-US" smtClean="0"/>
              <a:pPr/>
              <a:t>7</a:t>
            </a:fld>
            <a:endParaRPr lang="en-US" altLang="en-US" dirty="0"/>
          </a:p>
        </p:txBody>
      </p:sp>
      <p:pic>
        <p:nvPicPr>
          <p:cNvPr id="6" name="image1.jpg" descr="A drawing of a face&#10;&#10;Description automatically generated">
            <a:extLst>
              <a:ext uri="{FF2B5EF4-FFF2-40B4-BE49-F238E27FC236}">
                <a16:creationId xmlns:a16="http://schemas.microsoft.com/office/drawing/2014/main" id="{FAD713E4-56AF-CD83-7630-0FF9D99CF2F9}"/>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1631222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52AF-C6F7-C26B-8125-8D1F1E8650A7}"/>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Objective</a:t>
            </a:r>
            <a:endParaRPr lang="en-IN" b="1" dirty="0"/>
          </a:p>
        </p:txBody>
      </p:sp>
      <p:sp>
        <p:nvSpPr>
          <p:cNvPr id="3" name="Content Placeholder 2">
            <a:extLst>
              <a:ext uri="{FF2B5EF4-FFF2-40B4-BE49-F238E27FC236}">
                <a16:creationId xmlns:a16="http://schemas.microsoft.com/office/drawing/2014/main" id="{F3F480A4-7D4A-509B-5D7B-7ED9E4ED2B24}"/>
              </a:ext>
            </a:extLst>
          </p:cNvPr>
          <p:cNvSpPr>
            <a:spLocks noGrp="1"/>
          </p:cNvSpPr>
          <p:nvPr>
            <p:ph idx="1"/>
          </p:nvPr>
        </p:nvSpPr>
        <p:spPr/>
        <p:txBody>
          <a:bodyPr/>
          <a:lstStyle/>
          <a:p>
            <a:pPr algn="just"/>
            <a:r>
              <a:rPr lang="en-US" dirty="0"/>
              <a:t>To design an ornithopter that mimics bird flight for high agility in defense and rescue missions.</a:t>
            </a:r>
          </a:p>
          <a:p>
            <a:pPr algn="just"/>
            <a:r>
              <a:rPr lang="en-US" dirty="0"/>
              <a:t>To enable the ornithopter to navigate complex terrains for real-time surveillance in defense operations.</a:t>
            </a:r>
          </a:p>
          <a:p>
            <a:pPr algn="just"/>
            <a:r>
              <a:rPr lang="en-US" dirty="0"/>
              <a:t>To equip the system with sensors for identifying survivors and detecting threats in disaster zones.</a:t>
            </a:r>
          </a:p>
          <a:p>
            <a:pPr algn="just"/>
            <a:r>
              <a:rPr lang="en-US" dirty="0"/>
              <a:t>To ensure the ornithopter can operate autonomously with minimal human intervention.</a:t>
            </a:r>
          </a:p>
          <a:p>
            <a:pPr algn="just"/>
            <a:r>
              <a:rPr lang="en-US" dirty="0"/>
              <a:t>To enhance rescue operations by providing live data, reducing response time, and improving efficiency in critical situations.</a:t>
            </a:r>
          </a:p>
          <a:p>
            <a:pPr marL="0" indent="0">
              <a:buNone/>
            </a:pPr>
            <a:endParaRPr lang="en-IN" dirty="0"/>
          </a:p>
        </p:txBody>
      </p:sp>
      <p:sp>
        <p:nvSpPr>
          <p:cNvPr id="4" name="Footer Placeholder 3">
            <a:extLst>
              <a:ext uri="{FF2B5EF4-FFF2-40B4-BE49-F238E27FC236}">
                <a16:creationId xmlns:a16="http://schemas.microsoft.com/office/drawing/2014/main" id="{F4BA6A50-E77D-5A96-F7BF-7C7B8FEC8713}"/>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C318577E-312E-9560-0F6D-4A2A0B888BE5}"/>
              </a:ext>
            </a:extLst>
          </p:cNvPr>
          <p:cNvSpPr>
            <a:spLocks noGrp="1"/>
          </p:cNvSpPr>
          <p:nvPr>
            <p:ph type="sldNum" sz="quarter" idx="12"/>
          </p:nvPr>
        </p:nvSpPr>
        <p:spPr/>
        <p:txBody>
          <a:bodyPr/>
          <a:lstStyle/>
          <a:p>
            <a:fld id="{9D73CAE4-B13A-4AC7-ABCD-5EDF85FE4EA2}" type="slidenum">
              <a:rPr lang="en-US" altLang="en-US" smtClean="0"/>
              <a:pPr/>
              <a:t>8</a:t>
            </a:fld>
            <a:endParaRPr lang="en-US" altLang="en-US"/>
          </a:p>
        </p:txBody>
      </p:sp>
      <p:pic>
        <p:nvPicPr>
          <p:cNvPr id="6" name="image1.jpg" descr="A drawing of a face&#10;&#10;Description automatically generated">
            <a:extLst>
              <a:ext uri="{FF2B5EF4-FFF2-40B4-BE49-F238E27FC236}">
                <a16:creationId xmlns:a16="http://schemas.microsoft.com/office/drawing/2014/main" id="{1DBA266D-1641-56F7-3358-D250B5E96AD6}"/>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285067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DACC-38AB-476D-1A85-B11612975D09}"/>
              </a:ext>
            </a:extLst>
          </p:cNvPr>
          <p:cNvSpPr>
            <a:spLocks noGrp="1"/>
          </p:cNvSpPr>
          <p:nvPr>
            <p:ph type="title"/>
          </p:nvPr>
        </p:nvSpPr>
        <p:spPr>
          <a:xfrm>
            <a:off x="628650" y="314325"/>
            <a:ext cx="7886700" cy="1325563"/>
          </a:xfrm>
        </p:spPr>
        <p:txBody>
          <a:bodyPr/>
          <a:lstStyle/>
          <a:p>
            <a:r>
              <a:rPr lang="en-US" altLang="en-US" b="1" dirty="0">
                <a:latin typeface="Times New Roman" panose="02020603050405020304" pitchFamily="18" charset="0"/>
                <a:cs typeface="Times New Roman" panose="02020603050405020304" pitchFamily="18" charset="0"/>
              </a:rPr>
              <a:t>Architecture Diagram</a:t>
            </a:r>
            <a:endParaRPr lang="en-IN" b="1" dirty="0"/>
          </a:p>
        </p:txBody>
      </p:sp>
      <p:sp>
        <p:nvSpPr>
          <p:cNvPr id="4" name="Footer Placeholder 3">
            <a:extLst>
              <a:ext uri="{FF2B5EF4-FFF2-40B4-BE49-F238E27FC236}">
                <a16:creationId xmlns:a16="http://schemas.microsoft.com/office/drawing/2014/main" id="{916A90B1-1AD7-35AB-D16C-BDA37D1AA692}"/>
              </a:ext>
            </a:extLst>
          </p:cNvPr>
          <p:cNvSpPr>
            <a:spLocks noGrp="1"/>
          </p:cNvSpPr>
          <p:nvPr>
            <p:ph type="ftr" sz="quarter" idx="11"/>
          </p:nvPr>
        </p:nvSpPr>
        <p:spPr>
          <a:xfrm>
            <a:off x="3028950" y="6447631"/>
            <a:ext cx="3086100" cy="365125"/>
          </a:xfrm>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A7370843-BF98-238C-5C19-713F20B3F6E3}"/>
              </a:ext>
            </a:extLst>
          </p:cNvPr>
          <p:cNvSpPr>
            <a:spLocks noGrp="1"/>
          </p:cNvSpPr>
          <p:nvPr>
            <p:ph type="sldNum" sz="quarter" idx="12"/>
          </p:nvPr>
        </p:nvSpPr>
        <p:spPr/>
        <p:txBody>
          <a:bodyPr/>
          <a:lstStyle/>
          <a:p>
            <a:fld id="{9D73CAE4-B13A-4AC7-ABCD-5EDF85FE4EA2}" type="slidenum">
              <a:rPr lang="en-US" altLang="en-US" smtClean="0"/>
              <a:pPr/>
              <a:t>9</a:t>
            </a:fld>
            <a:endParaRPr lang="en-US" altLang="en-US"/>
          </a:p>
        </p:txBody>
      </p:sp>
      <p:pic>
        <p:nvPicPr>
          <p:cNvPr id="15" name="image1.jpg" descr="A drawing of a face&#10;&#10;Description automatically generated">
            <a:extLst>
              <a:ext uri="{FF2B5EF4-FFF2-40B4-BE49-F238E27FC236}">
                <a16:creationId xmlns:a16="http://schemas.microsoft.com/office/drawing/2014/main" id="{0551A8EC-C842-9671-DCD6-507E1C6D4171}"/>
              </a:ext>
            </a:extLst>
          </p:cNvPr>
          <p:cNvPicPr/>
          <p:nvPr/>
        </p:nvPicPr>
        <p:blipFill>
          <a:blip r:embed="rId2" cstate="print"/>
          <a:srcRect/>
          <a:stretch>
            <a:fillRect/>
          </a:stretch>
        </p:blipFill>
        <p:spPr>
          <a:xfrm>
            <a:off x="6324600" y="177800"/>
            <a:ext cx="2533319" cy="659958"/>
          </a:xfrm>
          <a:prstGeom prst="rect">
            <a:avLst/>
          </a:prstGeom>
          <a:ln/>
        </p:spPr>
      </p:pic>
      <p:pic>
        <p:nvPicPr>
          <p:cNvPr id="6" name="Picture 5">
            <a:extLst>
              <a:ext uri="{FF2B5EF4-FFF2-40B4-BE49-F238E27FC236}">
                <a16:creationId xmlns:a16="http://schemas.microsoft.com/office/drawing/2014/main" id="{65262EDF-1DAA-522A-113A-124F9FDA6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9965" y="1202673"/>
            <a:ext cx="3197985" cy="5336239"/>
          </a:xfrm>
          <a:prstGeom prst="rect">
            <a:avLst/>
          </a:prstGeom>
        </p:spPr>
      </p:pic>
    </p:spTree>
    <p:extLst>
      <p:ext uri="{BB962C8B-B14F-4D97-AF65-F5344CB8AC3E}">
        <p14:creationId xmlns:p14="http://schemas.microsoft.com/office/powerpoint/2010/main" val="3171649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D49D-B0A9-8BFF-44DF-76CF873BB662}"/>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Proposed system</a:t>
            </a:r>
            <a:endParaRPr lang="en-IN" b="1" dirty="0"/>
          </a:p>
        </p:txBody>
      </p:sp>
      <p:sp>
        <p:nvSpPr>
          <p:cNvPr id="4" name="Footer Placeholder 3">
            <a:extLst>
              <a:ext uri="{FF2B5EF4-FFF2-40B4-BE49-F238E27FC236}">
                <a16:creationId xmlns:a16="http://schemas.microsoft.com/office/drawing/2014/main" id="{8B0A01DC-20E5-B263-C9E8-36628D7E8422}"/>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6A5D6EA9-1A57-8A90-28B9-CA2A06A64525}"/>
              </a:ext>
            </a:extLst>
          </p:cNvPr>
          <p:cNvSpPr>
            <a:spLocks noGrp="1"/>
          </p:cNvSpPr>
          <p:nvPr>
            <p:ph type="sldNum" sz="quarter" idx="12"/>
          </p:nvPr>
        </p:nvSpPr>
        <p:spPr/>
        <p:txBody>
          <a:bodyPr/>
          <a:lstStyle/>
          <a:p>
            <a:fld id="{9D73CAE4-B13A-4AC7-ABCD-5EDF85FE4EA2}" type="slidenum">
              <a:rPr lang="en-US" altLang="en-US" smtClean="0"/>
              <a:pPr/>
              <a:t>10</a:t>
            </a:fld>
            <a:endParaRPr lang="en-US" altLang="en-US"/>
          </a:p>
        </p:txBody>
      </p:sp>
      <p:pic>
        <p:nvPicPr>
          <p:cNvPr id="3" name="image1.jpg" descr="A drawing of a face&#10;&#10;Description automatically generated">
            <a:extLst>
              <a:ext uri="{FF2B5EF4-FFF2-40B4-BE49-F238E27FC236}">
                <a16:creationId xmlns:a16="http://schemas.microsoft.com/office/drawing/2014/main" id="{32AE6BB3-7CEB-B7B9-8B78-1364708A567A}"/>
              </a:ext>
            </a:extLst>
          </p:cNvPr>
          <p:cNvPicPr/>
          <p:nvPr/>
        </p:nvPicPr>
        <p:blipFill>
          <a:blip r:embed="rId2" cstate="print"/>
          <a:srcRect/>
          <a:stretch>
            <a:fillRect/>
          </a:stretch>
        </p:blipFill>
        <p:spPr>
          <a:xfrm>
            <a:off x="6324600" y="177800"/>
            <a:ext cx="2533319" cy="659958"/>
          </a:xfrm>
          <a:prstGeom prst="rect">
            <a:avLst/>
          </a:prstGeom>
          <a:ln/>
        </p:spPr>
      </p:pic>
      <p:pic>
        <p:nvPicPr>
          <p:cNvPr id="6" name="Picture 5">
            <a:extLst>
              <a:ext uri="{FF2B5EF4-FFF2-40B4-BE49-F238E27FC236}">
                <a16:creationId xmlns:a16="http://schemas.microsoft.com/office/drawing/2014/main" id="{342EE62B-2D9E-2372-5181-B506F2AEF1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86851"/>
            <a:ext cx="4880543" cy="3884297"/>
          </a:xfrm>
          <a:prstGeom prst="rect">
            <a:avLst/>
          </a:prstGeom>
        </p:spPr>
      </p:pic>
      <p:pic>
        <p:nvPicPr>
          <p:cNvPr id="7" name="Picture 6">
            <a:extLst>
              <a:ext uri="{FF2B5EF4-FFF2-40B4-BE49-F238E27FC236}">
                <a16:creationId xmlns:a16="http://schemas.microsoft.com/office/drawing/2014/main" id="{D35B7A77-38E0-0133-7483-81BC82EFD3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0543" y="1785811"/>
            <a:ext cx="4263457" cy="4143836"/>
          </a:xfrm>
          <a:prstGeom prst="rect">
            <a:avLst/>
          </a:prstGeom>
        </p:spPr>
      </p:pic>
    </p:spTree>
    <p:extLst>
      <p:ext uri="{BB962C8B-B14F-4D97-AF65-F5344CB8AC3E}">
        <p14:creationId xmlns:p14="http://schemas.microsoft.com/office/powerpoint/2010/main" val="273321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C4D9-B296-C3E7-6BFB-0A61C3533F52}"/>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Component requirements	</a:t>
            </a:r>
            <a:endParaRPr lang="en-IN" dirty="0"/>
          </a:p>
        </p:txBody>
      </p:sp>
      <p:sp>
        <p:nvSpPr>
          <p:cNvPr id="3" name="Content Placeholder 2">
            <a:extLst>
              <a:ext uri="{FF2B5EF4-FFF2-40B4-BE49-F238E27FC236}">
                <a16:creationId xmlns:a16="http://schemas.microsoft.com/office/drawing/2014/main" id="{077C7E2E-B6CC-E502-AAEC-717C0526F743}"/>
              </a:ext>
            </a:extLst>
          </p:cNvPr>
          <p:cNvSpPr>
            <a:spLocks noGrp="1"/>
          </p:cNvSpPr>
          <p:nvPr>
            <p:ph idx="1"/>
          </p:nvPr>
        </p:nvSpPr>
        <p:spPr>
          <a:xfrm>
            <a:off x="628650" y="1505012"/>
            <a:ext cx="7886700" cy="4667250"/>
          </a:xfrm>
        </p:spPr>
        <p:txBody>
          <a:bodyPr/>
          <a:lstStyle/>
          <a:p>
            <a:pPr marL="0" indent="0">
              <a:lnSpc>
                <a:spcPct val="100000"/>
              </a:lnSpc>
              <a:buNone/>
            </a:pPr>
            <a:r>
              <a:rPr lang="en-US" sz="1200" b="1" dirty="0">
                <a:latin typeface="Times New Roman" panose="02020603050405020304" pitchFamily="18" charset="0"/>
                <a:cs typeface="Times New Roman" panose="02020603050405020304" pitchFamily="18" charset="0"/>
              </a:rPr>
              <a:t>HARDWARE REQUIREMENTS </a:t>
            </a:r>
            <a:endParaRPr lang="en-IN" sz="1200" b="1" dirty="0">
              <a:latin typeface="Times New Roman" panose="02020603050405020304" pitchFamily="18" charset="0"/>
              <a:cs typeface="Times New Roman" panose="02020603050405020304" pitchFamily="18" charset="0"/>
            </a:endParaRP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Arduino nano </a:t>
            </a: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Coreless Motor with Propeller</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IRF520 MOSFET Driver Module</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TP4056 Charging Module</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Electronic Spices DC-DC 0.9V to 5V Converter</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Lithium-ion Battery 3.7V/1.8Ah</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PS2 Joystick Module Breakout Sensor</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NRF24L01 with Antenna</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10K Pot potentiometer</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Pin Toggle Switch</a:t>
            </a:r>
            <a:endParaRPr lang="en-IN" sz="1200" dirty="0">
              <a:effectLst/>
              <a:latin typeface="Times New Roman" panose="02020603050405020304" pitchFamily="18" charset="0"/>
              <a:ea typeface="Liberation Serif"/>
              <a:cs typeface="Times New Roman" panose="02020603050405020304" pitchFamily="18" charset="0"/>
            </a:endParaRPr>
          </a:p>
          <a:p>
            <a:pPr marR="621030" lvl="0" algn="just">
              <a:lnSpc>
                <a:spcPct val="100000"/>
              </a:lnSpc>
              <a:spcBef>
                <a:spcPts val="1300"/>
              </a:spcBef>
              <a:spcAft>
                <a:spcPts val="8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OLED display</a:t>
            </a:r>
            <a:endParaRPr lang="en-IN" sz="1200" dirty="0">
              <a:effectLst/>
              <a:latin typeface="Times New Roman" panose="02020603050405020304" pitchFamily="18" charset="0"/>
              <a:ea typeface="Liberation Serif"/>
              <a:cs typeface="Times New Roman" panose="02020603050405020304" pitchFamily="18" charset="0"/>
            </a:endParaRPr>
          </a:p>
        </p:txBody>
      </p:sp>
      <p:sp>
        <p:nvSpPr>
          <p:cNvPr id="4" name="Footer Placeholder 3">
            <a:extLst>
              <a:ext uri="{FF2B5EF4-FFF2-40B4-BE49-F238E27FC236}">
                <a16:creationId xmlns:a16="http://schemas.microsoft.com/office/drawing/2014/main" id="{DA3F4938-0FB2-7C8F-5896-85B21621B5D9}"/>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0B54AE8F-F459-DE80-A9E2-41EF1289925B}"/>
              </a:ext>
            </a:extLst>
          </p:cNvPr>
          <p:cNvSpPr>
            <a:spLocks noGrp="1"/>
          </p:cNvSpPr>
          <p:nvPr>
            <p:ph type="sldNum" sz="quarter" idx="12"/>
          </p:nvPr>
        </p:nvSpPr>
        <p:spPr/>
        <p:txBody>
          <a:bodyPr/>
          <a:lstStyle/>
          <a:p>
            <a:fld id="{9D73CAE4-B13A-4AC7-ABCD-5EDF85FE4EA2}" type="slidenum">
              <a:rPr lang="en-US" altLang="en-US" smtClean="0"/>
              <a:pPr/>
              <a:t>11</a:t>
            </a:fld>
            <a:endParaRPr lang="en-US" altLang="en-US"/>
          </a:p>
        </p:txBody>
      </p:sp>
      <p:pic>
        <p:nvPicPr>
          <p:cNvPr id="6" name="image1.jpg" descr="A drawing of a face&#10;&#10;Description automatically generated">
            <a:extLst>
              <a:ext uri="{FF2B5EF4-FFF2-40B4-BE49-F238E27FC236}">
                <a16:creationId xmlns:a16="http://schemas.microsoft.com/office/drawing/2014/main" id="{A68D5CC4-01CB-B460-233F-930C79915881}"/>
              </a:ext>
            </a:extLst>
          </p:cNvPr>
          <p:cNvPicPr/>
          <p:nvPr/>
        </p:nvPicPr>
        <p:blipFill>
          <a:blip r:embed="rId2" cstate="print"/>
          <a:srcRect/>
          <a:stretch>
            <a:fillRect/>
          </a:stretch>
        </p:blipFill>
        <p:spPr>
          <a:xfrm>
            <a:off x="6324600" y="177800"/>
            <a:ext cx="2533319" cy="659958"/>
          </a:xfrm>
          <a:prstGeom prst="rect">
            <a:avLst/>
          </a:prstGeom>
          <a:ln/>
        </p:spPr>
      </p:pic>
      <p:sp>
        <p:nvSpPr>
          <p:cNvPr id="7" name="Content Placeholder 4">
            <a:extLst>
              <a:ext uri="{FF2B5EF4-FFF2-40B4-BE49-F238E27FC236}">
                <a16:creationId xmlns:a16="http://schemas.microsoft.com/office/drawing/2014/main" id="{02A732DC-24C0-649D-20E6-700A1B569A61}"/>
              </a:ext>
            </a:extLst>
          </p:cNvPr>
          <p:cNvSpPr txBox="1">
            <a:spLocks/>
          </p:cNvSpPr>
          <p:nvPr/>
        </p:nvSpPr>
        <p:spPr>
          <a:xfrm>
            <a:off x="4419600" y="1505012"/>
            <a:ext cx="461268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latin typeface="Times New Roman" panose="02020603050405020304" pitchFamily="18" charset="0"/>
                <a:cs typeface="Times New Roman" panose="02020603050405020304" pitchFamily="18" charset="0"/>
              </a:rPr>
              <a:t>SOFTWARE REQUIREMENTS </a:t>
            </a:r>
            <a:endParaRPr lang="en-IN" sz="1200" b="1" dirty="0">
              <a:latin typeface="Times New Roman" panose="02020603050405020304" pitchFamily="18" charset="0"/>
              <a:cs typeface="Times New Roman" panose="02020603050405020304" pitchFamily="18" charset="0"/>
            </a:endParaRPr>
          </a:p>
          <a:p>
            <a:r>
              <a:rPr lang="en-IN" sz="1200" dirty="0">
                <a:solidFill>
                  <a:srgbClr val="000000"/>
                </a:solidFill>
                <a:effectLst/>
                <a:latin typeface="Times New Roman" panose="02020603050405020304" pitchFamily="18" charset="0"/>
                <a:ea typeface="Times New Roman" panose="02020603050405020304" pitchFamily="18" charset="0"/>
                <a:cs typeface="Liberation Serif"/>
              </a:rPr>
              <a:t>Arduino IDE</a:t>
            </a:r>
            <a:endParaRPr lang="en-IN"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1200" dirty="0">
                <a:solidFill>
                  <a:srgbClr val="000000"/>
                </a:solidFill>
                <a:latin typeface="Times New Roman" panose="02020603050405020304" pitchFamily="18" charset="0"/>
                <a:ea typeface="Liberation Serif"/>
                <a:cs typeface="Times New Roman" panose="02020603050405020304" pitchFamily="18" charset="0"/>
              </a:rPr>
              <a:t>Python</a:t>
            </a:r>
            <a:endParaRPr lang="en-IN" sz="1200" dirty="0">
              <a:effectLst/>
              <a:latin typeface="Liberation Serif"/>
              <a:ea typeface="Liberation Serif"/>
              <a:cs typeface="Liberation Serif"/>
            </a:endParaRPr>
          </a:p>
        </p:txBody>
      </p:sp>
    </p:spTree>
    <p:extLst>
      <p:ext uri="{BB962C8B-B14F-4D97-AF65-F5344CB8AC3E}">
        <p14:creationId xmlns:p14="http://schemas.microsoft.com/office/powerpoint/2010/main" val="521937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A3EE4-16CE-EAF6-9AA2-2DDB287BAA96}"/>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Module description</a:t>
            </a:r>
            <a:endParaRPr lang="en-IN" dirty="0"/>
          </a:p>
        </p:txBody>
      </p:sp>
      <p:sp>
        <p:nvSpPr>
          <p:cNvPr id="3" name="Content Placeholder 2">
            <a:extLst>
              <a:ext uri="{FF2B5EF4-FFF2-40B4-BE49-F238E27FC236}">
                <a16:creationId xmlns:a16="http://schemas.microsoft.com/office/drawing/2014/main" id="{6989B5B3-94E8-007D-B001-BD5A2A2570AE}"/>
              </a:ext>
            </a:extLst>
          </p:cNvPr>
          <p:cNvSpPr>
            <a:spLocks noGrp="1"/>
          </p:cNvSpPr>
          <p:nvPr>
            <p:ph idx="1"/>
          </p:nvPr>
        </p:nvSpPr>
        <p:spPr/>
        <p:txBody>
          <a:bodyPr/>
          <a:lstStyle/>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Flight Control System</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Surveillance and Monitoring System</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Threat Detection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Rescue and Victim Detection System</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E563EC1-83AC-FFA3-823E-681EAC45B50A}"/>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9F78A0BF-A4D5-CC8D-19F5-E2FE4F08D5DD}"/>
              </a:ext>
            </a:extLst>
          </p:cNvPr>
          <p:cNvSpPr>
            <a:spLocks noGrp="1"/>
          </p:cNvSpPr>
          <p:nvPr>
            <p:ph type="sldNum" sz="quarter" idx="12"/>
          </p:nvPr>
        </p:nvSpPr>
        <p:spPr/>
        <p:txBody>
          <a:bodyPr/>
          <a:lstStyle/>
          <a:p>
            <a:fld id="{9D73CAE4-B13A-4AC7-ABCD-5EDF85FE4EA2}" type="slidenum">
              <a:rPr lang="en-US" altLang="en-US" smtClean="0"/>
              <a:pPr/>
              <a:t>12</a:t>
            </a:fld>
            <a:endParaRPr lang="en-US" altLang="en-US"/>
          </a:p>
        </p:txBody>
      </p:sp>
      <p:pic>
        <p:nvPicPr>
          <p:cNvPr id="6" name="image1.jpg" descr="A drawing of a face&#10;&#10;Description automatically generated">
            <a:extLst>
              <a:ext uri="{FF2B5EF4-FFF2-40B4-BE49-F238E27FC236}">
                <a16:creationId xmlns:a16="http://schemas.microsoft.com/office/drawing/2014/main" id="{CB5FE27C-9B7C-8BA7-7E39-212F9A98EF73}"/>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136416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Module description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85800" y="1827213"/>
            <a:ext cx="78867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Flight Control System:</a:t>
            </a:r>
          </a:p>
          <a:p>
            <a:pPr marL="0" indent="0" algn="just">
              <a:buNone/>
            </a:pPr>
            <a:r>
              <a:rPr lang="en-US" sz="2400" dirty="0">
                <a:effectLst/>
                <a:latin typeface="Times New Roman" panose="02020603050405020304" pitchFamily="18" charset="0"/>
                <a:ea typeface="Liberation Serif"/>
                <a:cs typeface="Times New Roman" panose="02020603050405020304" pitchFamily="18" charset="0"/>
              </a:rPr>
              <a:t>The flight control system is responsible for managing the ornithopter’s movements, including takeoff, navigation, and landing. It uses advanced algorithms to mimic the flapping flight of birds, allowing for agility and stability in various conditions. The system also handles inputs from sensors and adjusts the ornithopter's motion based on environmental factors, ensuring precise maneuvering in challenging terrains and real-time responsiveness to mission requirements</a:t>
            </a:r>
            <a:r>
              <a:rPr lang="en-US" sz="2400" b="1" dirty="0">
                <a:effectLst/>
                <a:latin typeface="Times New Roman" panose="02020603050405020304" pitchFamily="18" charset="0"/>
                <a:ea typeface="Liberation Serif"/>
                <a:cs typeface="Times New Roman" panose="02020603050405020304" pitchFamily="18" charset="0"/>
              </a:rPr>
              <a:t>.</a:t>
            </a:r>
            <a:endParaRPr lang="en-IN" sz="2400" dirty="0">
              <a:effectLst/>
              <a:latin typeface="Times New Roman" panose="02020603050405020304" pitchFamily="18" charset="0"/>
              <a:ea typeface="Liberation Serif"/>
              <a:cs typeface="Times New Roman" panose="02020603050405020304" pitchFamily="18" charset="0"/>
            </a:endParaRP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p:cNvSpPr>
            <a:spLocks noGrp="1"/>
          </p:cNvSpPr>
          <p:nvPr>
            <p:ph type="sldNum" sz="quarter" idx="12"/>
          </p:nvPr>
        </p:nvSpPr>
        <p:spPr/>
        <p:txBody>
          <a:bodyPr/>
          <a:lstStyle/>
          <a:p>
            <a:fld id="{9D73CAE4-B13A-4AC7-ABCD-5EDF85FE4EA2}" type="slidenum">
              <a:rPr lang="en-US" altLang="en-US" smtClean="0"/>
              <a:pPr/>
              <a:t>13</a:t>
            </a:fld>
            <a:endParaRPr lang="en-US" altLang="en-US"/>
          </a:p>
        </p:txBody>
      </p:sp>
      <p:pic>
        <p:nvPicPr>
          <p:cNvPr id="6" name="image1.jpg" descr="A drawing of a face&#10;&#10;Description automatically generated"/>
          <p:cNvPicPr/>
          <p:nvPr/>
        </p:nvPicPr>
        <p:blipFill>
          <a:blip r:embed="rId2" cstate="print"/>
          <a:srcRect/>
          <a:stretch>
            <a:fillRect/>
          </a:stretch>
        </p:blipFill>
        <p:spPr>
          <a:xfrm>
            <a:off x="6400800" y="228600"/>
            <a:ext cx="2533319" cy="659958"/>
          </a:xfrm>
          <a:prstGeom prst="rect">
            <a:avLst/>
          </a:prstGeo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Module description</a:t>
            </a:r>
            <a:endParaRPr lang="en-US" dirty="0"/>
          </a:p>
        </p:txBody>
      </p:sp>
      <p:sp>
        <p:nvSpPr>
          <p:cNvPr id="3" name="Content Placeholder 2"/>
          <p:cNvSpPr>
            <a:spLocks noGrp="1"/>
          </p:cNvSpPr>
          <p:nvPr>
            <p:ph idx="1"/>
          </p:nvPr>
        </p:nvSpPr>
        <p:spPr/>
        <p:txBody>
          <a:bodyPr/>
          <a:lstStyle/>
          <a:p>
            <a:pPr marL="0" indent="0">
              <a:buNone/>
            </a:pPr>
            <a:r>
              <a:rPr lang="en-US" sz="2400" b="1" dirty="0">
                <a:latin typeface="Times New Roman" panose="02020603050405020304" pitchFamily="18" charset="0"/>
                <a:cs typeface="Times New Roman" panose="02020603050405020304" pitchFamily="18" charset="0"/>
              </a:rPr>
              <a:t>Surveillance and Monitoring System:</a:t>
            </a:r>
          </a:p>
          <a:p>
            <a:pPr marL="0" indent="0" algn="just">
              <a:buNone/>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module includes a high-resolution camera and real-time video streaming capabilities for surveillance during defense and rescue operations. It provides live feedback to the control station, allowing operators to monitor activities and detect potential threats or survivors. The system can be further enhanced with machine learning algorithms for automated object detection and recognition, enabling the ornithopter to identify targets, survivors, or hazards autonomously.</a:t>
            </a:r>
            <a:endParaRPr lang="en-IN" sz="2400" dirty="0">
              <a:effectLst/>
              <a:latin typeface="Times New Roman" panose="02020603050405020304" pitchFamily="18" charset="0"/>
              <a:ea typeface="Liberation Serif"/>
              <a:cs typeface="Times New Roman" panose="02020603050405020304" pitchFamily="18" charset="0"/>
            </a:endParaRP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p:cNvSpPr>
            <a:spLocks noGrp="1"/>
          </p:cNvSpPr>
          <p:nvPr>
            <p:ph type="sldNum" sz="quarter" idx="12"/>
          </p:nvPr>
        </p:nvSpPr>
        <p:spPr/>
        <p:txBody>
          <a:bodyPr/>
          <a:lstStyle/>
          <a:p>
            <a:fld id="{9D73CAE4-B13A-4AC7-ABCD-5EDF85FE4EA2}" type="slidenum">
              <a:rPr lang="en-US" altLang="en-US" smtClean="0"/>
              <a:pPr/>
              <a:t>14</a:t>
            </a:fld>
            <a:endParaRPr lang="en-US" altLang="en-US"/>
          </a:p>
        </p:txBody>
      </p:sp>
      <p:pic>
        <p:nvPicPr>
          <p:cNvPr id="6" name="image1.jpg" descr="A drawing of a face&#10;&#10;Description automatically generated"/>
          <p:cNvPicPr/>
          <p:nvPr/>
        </p:nvPicPr>
        <p:blipFill>
          <a:blip r:embed="rId2" cstate="print"/>
          <a:srcRect/>
          <a:stretch>
            <a:fillRect/>
          </a:stretch>
        </p:blipFill>
        <p:spPr>
          <a:xfrm>
            <a:off x="6400800" y="228600"/>
            <a:ext cx="2533319" cy="659958"/>
          </a:xfrm>
          <a:prstGeom prst="rect">
            <a:avLst/>
          </a:prstGeo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57C8-9A92-B41C-150D-8E505E28DC2B}"/>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Module description</a:t>
            </a:r>
            <a:endParaRPr lang="en-IN" dirty="0"/>
          </a:p>
        </p:txBody>
      </p:sp>
      <p:sp>
        <p:nvSpPr>
          <p:cNvPr id="4" name="Footer Placeholder 3">
            <a:extLst>
              <a:ext uri="{FF2B5EF4-FFF2-40B4-BE49-F238E27FC236}">
                <a16:creationId xmlns:a16="http://schemas.microsoft.com/office/drawing/2014/main" id="{E0764016-B107-E42C-EE2D-F3157521197E}"/>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97FE2911-37D0-A80F-8538-6B8B9E0D300D}"/>
              </a:ext>
            </a:extLst>
          </p:cNvPr>
          <p:cNvSpPr>
            <a:spLocks noGrp="1"/>
          </p:cNvSpPr>
          <p:nvPr>
            <p:ph type="sldNum" sz="quarter" idx="12"/>
          </p:nvPr>
        </p:nvSpPr>
        <p:spPr/>
        <p:txBody>
          <a:bodyPr/>
          <a:lstStyle/>
          <a:p>
            <a:fld id="{9D73CAE4-B13A-4AC7-ABCD-5EDF85FE4EA2}" type="slidenum">
              <a:rPr lang="en-US" altLang="en-US" smtClean="0"/>
              <a:pPr/>
              <a:t>15</a:t>
            </a:fld>
            <a:endParaRPr lang="en-US" altLang="en-US"/>
          </a:p>
        </p:txBody>
      </p:sp>
      <p:pic>
        <p:nvPicPr>
          <p:cNvPr id="6" name="image1.jpg" descr="A drawing of a face&#10;&#10;Description automatically generated">
            <a:extLst>
              <a:ext uri="{FF2B5EF4-FFF2-40B4-BE49-F238E27FC236}">
                <a16:creationId xmlns:a16="http://schemas.microsoft.com/office/drawing/2014/main" id="{2F1546AD-B63D-6F2E-E560-75B2AF135FEE}"/>
              </a:ext>
            </a:extLst>
          </p:cNvPr>
          <p:cNvPicPr>
            <a:picLocks noGrp="1"/>
          </p:cNvPicPr>
          <p:nvPr>
            <p:ph idx="1"/>
          </p:nvPr>
        </p:nvPicPr>
        <p:blipFill>
          <a:blip r:embed="rId2" cstate="print"/>
          <a:srcRect/>
          <a:stretch>
            <a:fillRect/>
          </a:stretch>
        </p:blipFill>
        <p:spPr>
          <a:xfrm>
            <a:off x="6400800" y="228600"/>
            <a:ext cx="2535382" cy="660862"/>
          </a:xfrm>
          <a:prstGeom prst="rect">
            <a:avLst/>
          </a:prstGeom>
          <a:ln/>
        </p:spPr>
      </p:pic>
      <p:sp>
        <p:nvSpPr>
          <p:cNvPr id="9" name="Content Placeholder 2">
            <a:extLst>
              <a:ext uri="{FF2B5EF4-FFF2-40B4-BE49-F238E27FC236}">
                <a16:creationId xmlns:a16="http://schemas.microsoft.com/office/drawing/2014/main" id="{469F9DEE-AACD-0857-A6E9-DBF48A482834}"/>
              </a:ext>
            </a:extLst>
          </p:cNvPr>
          <p:cNvSpPr txBox="1">
            <a:spLocks/>
          </p:cNvSpPr>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Threat Detection System:</a:t>
            </a:r>
          </a:p>
          <a:p>
            <a:pPr marL="0" indent="0" algn="just">
              <a:buFont typeface="Arial" panose="020B0604020202020204" pitchFamily="34" charset="0"/>
              <a:buNone/>
            </a:pPr>
            <a:r>
              <a:rPr lang="en-US" sz="2400" dirty="0">
                <a:solidFill>
                  <a:srgbClr val="000000"/>
                </a:solidFill>
                <a:effectLst/>
                <a:latin typeface="Times New Roman" panose="02020603050405020304" pitchFamily="18" charset="0"/>
                <a:ea typeface="Times New Roman" panose="02020603050405020304" pitchFamily="18" charset="0"/>
              </a:rPr>
              <a:t>The threat detection system uses sensors and machine learning algorithms to identify potential dangers during defense missions. It can recognize suspicious objects, movements, or environmental hazards, alerting operators in real-time. By incorporating image recognition and environmental data analysis, the ornithopter can autonomously assess risks, enhancing the overall safety and effectiveness of the mission</a:t>
            </a:r>
            <a:r>
              <a:rPr lang="en-US" sz="2400" dirty="0">
                <a:solidFill>
                  <a:srgbClr val="000000"/>
                </a:solidFill>
                <a:latin typeface="Times New Roman" panose="02020603050405020304" pitchFamily="18" charset="0"/>
                <a:ea typeface="Times New Roman" panose="02020603050405020304" pitchFamily="18" charset="0"/>
              </a:rPr>
              <a:t>.</a:t>
            </a:r>
            <a:endParaRPr lang="en-US" sz="2400" dirty="0"/>
          </a:p>
        </p:txBody>
      </p:sp>
    </p:spTree>
    <p:extLst>
      <p:ext uri="{BB962C8B-B14F-4D97-AF65-F5344CB8AC3E}">
        <p14:creationId xmlns:p14="http://schemas.microsoft.com/office/powerpoint/2010/main" val="4286109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60ADA-5D74-5861-8C13-45451EB25F60}"/>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Module description</a:t>
            </a:r>
            <a:endParaRPr lang="en-IN" dirty="0"/>
          </a:p>
        </p:txBody>
      </p:sp>
      <p:sp>
        <p:nvSpPr>
          <p:cNvPr id="4" name="Footer Placeholder 3">
            <a:extLst>
              <a:ext uri="{FF2B5EF4-FFF2-40B4-BE49-F238E27FC236}">
                <a16:creationId xmlns:a16="http://schemas.microsoft.com/office/drawing/2014/main" id="{9A8E7D8F-596C-7B6C-E512-66BDC2F62281}"/>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070F1812-B442-5C5A-1807-9126998E2360}"/>
              </a:ext>
            </a:extLst>
          </p:cNvPr>
          <p:cNvSpPr>
            <a:spLocks noGrp="1"/>
          </p:cNvSpPr>
          <p:nvPr>
            <p:ph type="sldNum" sz="quarter" idx="12"/>
          </p:nvPr>
        </p:nvSpPr>
        <p:spPr/>
        <p:txBody>
          <a:bodyPr/>
          <a:lstStyle/>
          <a:p>
            <a:fld id="{9D73CAE4-B13A-4AC7-ABCD-5EDF85FE4EA2}" type="slidenum">
              <a:rPr lang="en-US" altLang="en-US" smtClean="0"/>
              <a:pPr/>
              <a:t>16</a:t>
            </a:fld>
            <a:endParaRPr lang="en-US" altLang="en-US"/>
          </a:p>
        </p:txBody>
      </p:sp>
      <p:pic>
        <p:nvPicPr>
          <p:cNvPr id="6" name="image1.jpg" descr="A drawing of a face&#10;&#10;Description automatically generated">
            <a:extLst>
              <a:ext uri="{FF2B5EF4-FFF2-40B4-BE49-F238E27FC236}">
                <a16:creationId xmlns:a16="http://schemas.microsoft.com/office/drawing/2014/main" id="{391ED7EB-F727-189D-B4BE-592B1D8FF169}"/>
              </a:ext>
            </a:extLst>
          </p:cNvPr>
          <p:cNvPicPr>
            <a:picLocks noGrp="1"/>
          </p:cNvPicPr>
          <p:nvPr>
            <p:ph idx="1"/>
          </p:nvPr>
        </p:nvPicPr>
        <p:blipFill>
          <a:blip r:embed="rId2" cstate="print"/>
          <a:srcRect/>
          <a:stretch>
            <a:fillRect/>
          </a:stretch>
        </p:blipFill>
        <p:spPr>
          <a:xfrm>
            <a:off x="6400800" y="228600"/>
            <a:ext cx="2535382" cy="660862"/>
          </a:xfrm>
          <a:prstGeom prst="rect">
            <a:avLst/>
          </a:prstGeom>
          <a:ln/>
        </p:spPr>
      </p:pic>
      <p:sp>
        <p:nvSpPr>
          <p:cNvPr id="7" name="Content Placeholder 2">
            <a:extLst>
              <a:ext uri="{FF2B5EF4-FFF2-40B4-BE49-F238E27FC236}">
                <a16:creationId xmlns:a16="http://schemas.microsoft.com/office/drawing/2014/main" id="{94B64A3C-AD6B-CECD-BB92-7B4057FC2BA9}"/>
              </a:ext>
            </a:extLst>
          </p:cNvPr>
          <p:cNvSpPr txBox="1">
            <a:spLocks/>
          </p:cNvSpPr>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400" b="1" dirty="0">
                <a:solidFill>
                  <a:srgbClr val="000000"/>
                </a:solidFill>
                <a:effectLst/>
                <a:latin typeface="Times New Roman" panose="02020603050405020304" pitchFamily="18" charset="0"/>
                <a:ea typeface="Times New Roman" panose="02020603050405020304" pitchFamily="18" charset="0"/>
              </a:rPr>
              <a:t>Rescue and Victim Detection System:</a:t>
            </a:r>
          </a:p>
          <a:p>
            <a:pPr marL="0" indent="0" algn="just">
              <a:buFont typeface="Arial" panose="020B0604020202020204" pitchFamily="34" charset="0"/>
              <a:buNone/>
            </a:pPr>
            <a:r>
              <a:rPr lang="en-US" sz="2400" dirty="0">
                <a:solidFill>
                  <a:srgbClr val="000000"/>
                </a:solidFill>
                <a:effectLst/>
                <a:latin typeface="Times New Roman" panose="02020603050405020304" pitchFamily="18" charset="0"/>
                <a:ea typeface="Times New Roman" panose="02020603050405020304" pitchFamily="18" charset="0"/>
              </a:rPr>
              <a:t>This module is designed for disaster rescue operations, using infrared sensors and cameras to detect survivors in challenging environments, such as collapsed buildings or forests. The system uses pattern recognition and thermal imaging to locate individuals, even in low-visibility conditions. It helps rescue teams pinpoint locations quickly, reducing the time taken to find survivors and providing critical information for planning rescue operations.</a:t>
            </a:r>
            <a:endParaRPr lang="en-US" sz="2400" dirty="0"/>
          </a:p>
        </p:txBody>
      </p:sp>
    </p:spTree>
    <p:extLst>
      <p:ext uri="{BB962C8B-B14F-4D97-AF65-F5344CB8AC3E}">
        <p14:creationId xmlns:p14="http://schemas.microsoft.com/office/powerpoint/2010/main" val="3181633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8AE68-3F7E-0F82-CBE8-E6B4745C46D3}"/>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Results and discussion</a:t>
            </a:r>
            <a:endParaRPr lang="en-IN" dirty="0"/>
          </a:p>
        </p:txBody>
      </p:sp>
      <p:sp>
        <p:nvSpPr>
          <p:cNvPr id="4" name="Footer Placeholder 3">
            <a:extLst>
              <a:ext uri="{FF2B5EF4-FFF2-40B4-BE49-F238E27FC236}">
                <a16:creationId xmlns:a16="http://schemas.microsoft.com/office/drawing/2014/main" id="{0A2DA7C2-2C87-5944-A176-19BE65287BBC}"/>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3516FC93-69F5-57F1-393B-69CF7D43C0D3}"/>
              </a:ext>
            </a:extLst>
          </p:cNvPr>
          <p:cNvSpPr>
            <a:spLocks noGrp="1"/>
          </p:cNvSpPr>
          <p:nvPr>
            <p:ph type="sldNum" sz="quarter" idx="12"/>
          </p:nvPr>
        </p:nvSpPr>
        <p:spPr/>
        <p:txBody>
          <a:bodyPr/>
          <a:lstStyle/>
          <a:p>
            <a:fld id="{9D73CAE4-B13A-4AC7-ABCD-5EDF85FE4EA2}" type="slidenum">
              <a:rPr lang="en-US" altLang="en-US" smtClean="0"/>
              <a:pPr/>
              <a:t>17</a:t>
            </a:fld>
            <a:endParaRPr lang="en-US" altLang="en-US"/>
          </a:p>
        </p:txBody>
      </p:sp>
      <p:pic>
        <p:nvPicPr>
          <p:cNvPr id="6" name="image1.jpg" descr="A drawing of a face&#10;&#10;Description automatically generated">
            <a:extLst>
              <a:ext uri="{FF2B5EF4-FFF2-40B4-BE49-F238E27FC236}">
                <a16:creationId xmlns:a16="http://schemas.microsoft.com/office/drawing/2014/main" id="{914588DA-44DC-FFF7-198F-BF44D9A579E6}"/>
              </a:ext>
            </a:extLst>
          </p:cNvPr>
          <p:cNvPicPr>
            <a:picLocks/>
          </p:cNvPicPr>
          <p:nvPr/>
        </p:nvPicPr>
        <p:blipFill>
          <a:blip r:embed="rId2" cstate="print"/>
          <a:srcRect/>
          <a:stretch>
            <a:fillRect/>
          </a:stretch>
        </p:blipFill>
        <p:spPr bwMode="auto">
          <a:xfrm>
            <a:off x="6400800" y="228600"/>
            <a:ext cx="2535382" cy="6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A4E0A1CA-598F-87C3-4D73-038C9595B351}"/>
              </a:ext>
            </a:extLst>
          </p:cNvPr>
          <p:cNvSpPr txBox="1"/>
          <p:nvPr/>
        </p:nvSpPr>
        <p:spPr>
          <a:xfrm>
            <a:off x="4467226" y="4063438"/>
            <a:ext cx="4572000" cy="315856"/>
          </a:xfrm>
          <a:prstGeom prst="rect">
            <a:avLst/>
          </a:prstGeom>
          <a:noFill/>
        </p:spPr>
        <p:txBody>
          <a:bodyPr wrap="square">
            <a:spAutoFit/>
          </a:bodyPr>
          <a:lstStyle/>
          <a:p>
            <a:pPr marR="621030" algn="ctr">
              <a:lnSpc>
                <a:spcPct val="150000"/>
              </a:lnSpc>
              <a:spcBef>
                <a:spcPts val="25"/>
              </a:spcBef>
              <a:spcAft>
                <a:spcPts val="0"/>
              </a:spcAft>
            </a:pPr>
            <a:r>
              <a:rPr lang="en-US" sz="1100" b="1" dirty="0">
                <a:latin typeface="Times New Roman" panose="02020603050405020304" pitchFamily="18" charset="0"/>
                <a:cs typeface="Times New Roman" panose="02020603050405020304" pitchFamily="18" charset="0"/>
              </a:rPr>
              <a:t>Ornithopter</a:t>
            </a:r>
            <a:r>
              <a:rPr lang="en-US" sz="1100" b="1" dirty="0">
                <a:effectLst/>
                <a:latin typeface="Times New Roman" panose="02020603050405020304" pitchFamily="18" charset="0"/>
                <a:ea typeface="Liberation Serif"/>
                <a:cs typeface="Liberation Serif"/>
              </a:rPr>
              <a:t> figure</a:t>
            </a:r>
            <a:endParaRPr lang="en-IN" sz="1100" dirty="0">
              <a:effectLst/>
              <a:latin typeface="Liberation Serif"/>
              <a:ea typeface="Liberation Serif"/>
              <a:cs typeface="Liberation Serif"/>
            </a:endParaRPr>
          </a:p>
        </p:txBody>
      </p:sp>
      <p:sp>
        <p:nvSpPr>
          <p:cNvPr id="14" name="TextBox 13">
            <a:extLst>
              <a:ext uri="{FF2B5EF4-FFF2-40B4-BE49-F238E27FC236}">
                <a16:creationId xmlns:a16="http://schemas.microsoft.com/office/drawing/2014/main" id="{0494AC1C-3F55-F23F-83A2-0CC54B01F035}"/>
              </a:ext>
            </a:extLst>
          </p:cNvPr>
          <p:cNvSpPr txBox="1"/>
          <p:nvPr/>
        </p:nvSpPr>
        <p:spPr>
          <a:xfrm>
            <a:off x="598170" y="3444607"/>
            <a:ext cx="4572000" cy="315856"/>
          </a:xfrm>
          <a:prstGeom prst="rect">
            <a:avLst/>
          </a:prstGeom>
          <a:noFill/>
        </p:spPr>
        <p:txBody>
          <a:bodyPr wrap="square">
            <a:spAutoFit/>
          </a:bodyPr>
          <a:lstStyle/>
          <a:p>
            <a:pPr marR="621030" algn="ctr">
              <a:lnSpc>
                <a:spcPct val="150000"/>
              </a:lnSpc>
              <a:spcBef>
                <a:spcPts val="25"/>
              </a:spcBef>
              <a:spcAft>
                <a:spcPts val="0"/>
              </a:spcAft>
            </a:pPr>
            <a:r>
              <a:rPr lang="en-US" sz="1100" b="1" dirty="0">
                <a:effectLst/>
                <a:latin typeface="Times New Roman" panose="02020603050405020304" pitchFamily="18" charset="0"/>
                <a:ea typeface="Liberation Serif"/>
                <a:cs typeface="Liberation Serif"/>
              </a:rPr>
              <a:t>Fire and smoke detection figure    </a:t>
            </a:r>
            <a:endParaRPr lang="en-IN" sz="1100" dirty="0">
              <a:effectLst/>
              <a:latin typeface="Liberation Serif"/>
              <a:ea typeface="Liberation Serif"/>
              <a:cs typeface="Liberation Serif"/>
            </a:endParaRPr>
          </a:p>
        </p:txBody>
      </p:sp>
      <p:sp>
        <p:nvSpPr>
          <p:cNvPr id="17" name="TextBox 16">
            <a:extLst>
              <a:ext uri="{FF2B5EF4-FFF2-40B4-BE49-F238E27FC236}">
                <a16:creationId xmlns:a16="http://schemas.microsoft.com/office/drawing/2014/main" id="{C708B68A-CC66-B232-28D8-21E9A9AD605E}"/>
              </a:ext>
            </a:extLst>
          </p:cNvPr>
          <p:cNvSpPr txBox="1"/>
          <p:nvPr/>
        </p:nvSpPr>
        <p:spPr>
          <a:xfrm>
            <a:off x="2209800" y="6215989"/>
            <a:ext cx="4572000" cy="261610"/>
          </a:xfrm>
          <a:prstGeom prst="rect">
            <a:avLst/>
          </a:prstGeom>
          <a:noFill/>
        </p:spPr>
        <p:txBody>
          <a:bodyPr wrap="square">
            <a:spAutoFit/>
          </a:bodyPr>
          <a:lstStyle/>
          <a:p>
            <a:pPr marR="621030" algn="ctr">
              <a:spcAft>
                <a:spcPts val="0"/>
              </a:spcAft>
            </a:pPr>
            <a:r>
              <a:rPr lang="en-US" sz="1100" b="1" dirty="0">
                <a:latin typeface="Times New Roman" panose="02020603050405020304" pitchFamily="18" charset="0"/>
                <a:ea typeface="Liberation Serif"/>
                <a:cs typeface="Liberation Serif"/>
              </a:rPr>
              <a:t>Controller</a:t>
            </a:r>
            <a:r>
              <a:rPr lang="en-US" sz="1100" b="1" dirty="0">
                <a:effectLst/>
                <a:latin typeface="Times New Roman" panose="02020603050405020304" pitchFamily="18" charset="0"/>
                <a:ea typeface="Liberation Serif"/>
                <a:cs typeface="Liberation Serif"/>
              </a:rPr>
              <a:t> figure</a:t>
            </a:r>
            <a:endParaRPr lang="en-IN" sz="1100" dirty="0">
              <a:effectLst/>
              <a:latin typeface="Liberation Serif"/>
              <a:ea typeface="Liberation Serif"/>
              <a:cs typeface="Liberation Serif"/>
            </a:endParaRPr>
          </a:p>
        </p:txBody>
      </p:sp>
      <p:pic>
        <p:nvPicPr>
          <p:cNvPr id="12" name="Picture 11">
            <a:extLst>
              <a:ext uri="{FF2B5EF4-FFF2-40B4-BE49-F238E27FC236}">
                <a16:creationId xmlns:a16="http://schemas.microsoft.com/office/drawing/2014/main" id="{123599BE-6E5D-3C9B-D457-6ED284BA8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433518"/>
            <a:ext cx="3886200" cy="2408904"/>
          </a:xfrm>
          <a:prstGeom prst="rect">
            <a:avLst/>
          </a:prstGeom>
        </p:spPr>
      </p:pic>
      <p:pic>
        <p:nvPicPr>
          <p:cNvPr id="16" name="Picture 15">
            <a:extLst>
              <a:ext uri="{FF2B5EF4-FFF2-40B4-BE49-F238E27FC236}">
                <a16:creationId xmlns:a16="http://schemas.microsoft.com/office/drawing/2014/main" id="{250B4C97-965A-0776-D3F6-94CB1A139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950" y="4134784"/>
            <a:ext cx="2179826" cy="2067305"/>
          </a:xfrm>
          <a:prstGeom prst="rect">
            <a:avLst/>
          </a:prstGeom>
        </p:spPr>
      </p:pic>
    </p:spTree>
    <p:extLst>
      <p:ext uri="{BB962C8B-B14F-4D97-AF65-F5344CB8AC3E}">
        <p14:creationId xmlns:p14="http://schemas.microsoft.com/office/powerpoint/2010/main" val="167589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5EF7-82B1-8781-07B8-33B7AA2BE018}"/>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Conclusion and future work</a:t>
            </a:r>
            <a:endParaRPr lang="en-IN" dirty="0"/>
          </a:p>
        </p:txBody>
      </p:sp>
      <p:sp>
        <p:nvSpPr>
          <p:cNvPr id="3" name="Content Placeholder 2">
            <a:extLst>
              <a:ext uri="{FF2B5EF4-FFF2-40B4-BE49-F238E27FC236}">
                <a16:creationId xmlns:a16="http://schemas.microsoft.com/office/drawing/2014/main" id="{B5F0B23B-89BE-19FB-BC16-BE1F3F93087D}"/>
              </a:ext>
            </a:extLst>
          </p:cNvPr>
          <p:cNvSpPr>
            <a:spLocks noGrp="1"/>
          </p:cNvSpPr>
          <p:nvPr>
            <p:ph idx="1"/>
          </p:nvPr>
        </p:nvSpPr>
        <p:spPr/>
        <p:txBody>
          <a:bodyPr/>
          <a:lstStyle/>
          <a:p>
            <a:pPr marL="0" indent="0">
              <a:buNone/>
            </a:pPr>
            <a:r>
              <a:rPr lang="en-US" b="0" i="0" dirty="0">
                <a:solidFill>
                  <a:srgbClr val="0F0F0F"/>
                </a:solidFill>
                <a:effectLst/>
                <a:latin typeface="Times New Roman" panose="02020603050405020304" pitchFamily="18" charset="0"/>
                <a:cs typeface="Times New Roman" panose="02020603050405020304" pitchFamily="18" charset="0"/>
              </a:rPr>
              <a:t>Conclusion:</a:t>
            </a:r>
          </a:p>
          <a:p>
            <a:pPr marL="0" indent="0" algn="just">
              <a:buNone/>
            </a:pPr>
            <a:r>
              <a:rPr lang="en-US" b="0" i="0" dirty="0">
                <a:solidFill>
                  <a:srgbClr val="0F0F0F"/>
                </a:solidFill>
                <a:effectLst/>
                <a:latin typeface="Times New Roman" panose="02020603050405020304" pitchFamily="18" charset="0"/>
                <a:cs typeface="Times New Roman" panose="02020603050405020304" pitchFamily="18" charset="0"/>
              </a:rPr>
              <a:t>The Smart Cradle and Feeding System revolutionizes infant care through advanced technology. Integrating Raspberry Pi 4, webcam, microphone, and sensors, it ensures precise monitoring. Servo motors enable timely feeding upon face detection. OpenCV, sound analysis, and a mobile app enhance intelligence and user-friendliness. Parents benefit from remote monitoring and control, easing childcare stress. This innovative solution, addressing feeding, soothing, and monitoring, exemplifies the transformative potential of technology in enhancing family well-being.</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08A5934-FBD8-543E-CBFC-A54EF9F7F134}"/>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CBCAC5EC-80A2-3700-4EAD-CE05B33F25D3}"/>
              </a:ext>
            </a:extLst>
          </p:cNvPr>
          <p:cNvSpPr>
            <a:spLocks noGrp="1"/>
          </p:cNvSpPr>
          <p:nvPr>
            <p:ph type="sldNum" sz="quarter" idx="12"/>
          </p:nvPr>
        </p:nvSpPr>
        <p:spPr/>
        <p:txBody>
          <a:bodyPr/>
          <a:lstStyle/>
          <a:p>
            <a:fld id="{9D73CAE4-B13A-4AC7-ABCD-5EDF85FE4EA2}" type="slidenum">
              <a:rPr lang="en-US" altLang="en-US" smtClean="0"/>
              <a:pPr/>
              <a:t>18</a:t>
            </a:fld>
            <a:endParaRPr lang="en-US" altLang="en-US"/>
          </a:p>
        </p:txBody>
      </p:sp>
      <p:pic>
        <p:nvPicPr>
          <p:cNvPr id="6" name="image1.jpg" descr="A drawing of a face&#10;&#10;Description automatically generated">
            <a:extLst>
              <a:ext uri="{FF2B5EF4-FFF2-40B4-BE49-F238E27FC236}">
                <a16:creationId xmlns:a16="http://schemas.microsoft.com/office/drawing/2014/main" id="{8DDE57E1-8788-FEC1-5157-B60B1D0F683A}"/>
              </a:ext>
            </a:extLst>
          </p:cNvPr>
          <p:cNvPicPr>
            <a:picLocks/>
          </p:cNvPicPr>
          <p:nvPr/>
        </p:nvPicPr>
        <p:blipFill>
          <a:blip r:embed="rId2" cstate="print"/>
          <a:srcRect/>
          <a:stretch>
            <a:fillRect/>
          </a:stretch>
        </p:blipFill>
        <p:spPr bwMode="auto">
          <a:xfrm>
            <a:off x="6400800" y="228600"/>
            <a:ext cx="2535382" cy="6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3570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5E1A9-EB4B-F555-8A1D-CF7220A223D7}"/>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Conclusion and future work</a:t>
            </a:r>
            <a:endParaRPr lang="en-IN" dirty="0"/>
          </a:p>
        </p:txBody>
      </p:sp>
      <p:sp>
        <p:nvSpPr>
          <p:cNvPr id="3" name="Content Placeholder 2">
            <a:extLst>
              <a:ext uri="{FF2B5EF4-FFF2-40B4-BE49-F238E27FC236}">
                <a16:creationId xmlns:a16="http://schemas.microsoft.com/office/drawing/2014/main" id="{A1C370AF-3E6A-7515-1A79-DE837C8A2ECD}"/>
              </a:ext>
            </a:extLst>
          </p:cNvPr>
          <p:cNvSpPr>
            <a:spLocks noGrp="1"/>
          </p:cNvSpPr>
          <p:nvPr>
            <p:ph idx="1"/>
          </p:nvPr>
        </p:nvSpPr>
        <p:spPr/>
        <p:txBody>
          <a:bodyPr/>
          <a:lstStyle/>
          <a:p>
            <a:pPr marL="0" indent="0">
              <a:buNone/>
            </a:pPr>
            <a:r>
              <a:rPr lang="en-IN" dirty="0"/>
              <a:t>Future Work:</a:t>
            </a:r>
          </a:p>
          <a:p>
            <a:pPr marL="0" indent="0" algn="just">
              <a:buNone/>
            </a:pPr>
            <a:r>
              <a:rPr lang="en-US" b="0" i="0" dirty="0">
                <a:solidFill>
                  <a:srgbClr val="0F0F0F"/>
                </a:solidFill>
                <a:effectLst/>
                <a:latin typeface="Times New Roman" panose="02020603050405020304" pitchFamily="18" charset="0"/>
                <a:cs typeface="Times New Roman" panose="02020603050405020304" pitchFamily="18" charset="0"/>
              </a:rPr>
              <a:t>In future developments, the Smart Cradle and Feeding System can benefit from AI integration, enhancing cry recognition and adapting soothing motions. Health monitoring features like heart rate and oxygen level tracking offer valuable insights, ensuring prompt action in case of concerns. Advanced environmental control, including climate and air quality monitoring, maintains an optimal setting. Mobile app upgrades with analytics, growth tracking, and sleep pattern analysis enhance the user experience. Voice activation and recognition add intuitive control. Strengthening security measures, integrating with the IoT ecosystem, cost optimization, clinical validation, and global adaptability ensure broader accessibility and impact.</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CECC688-95C6-C56B-421D-97A160AD1058}"/>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22A27357-FEA9-60CD-F706-D015D79C582E}"/>
              </a:ext>
            </a:extLst>
          </p:cNvPr>
          <p:cNvSpPr>
            <a:spLocks noGrp="1"/>
          </p:cNvSpPr>
          <p:nvPr>
            <p:ph type="sldNum" sz="quarter" idx="12"/>
          </p:nvPr>
        </p:nvSpPr>
        <p:spPr/>
        <p:txBody>
          <a:bodyPr/>
          <a:lstStyle/>
          <a:p>
            <a:fld id="{9D73CAE4-B13A-4AC7-ABCD-5EDF85FE4EA2}" type="slidenum">
              <a:rPr lang="en-US" altLang="en-US" smtClean="0"/>
              <a:pPr/>
              <a:t>19</a:t>
            </a:fld>
            <a:endParaRPr lang="en-US" altLang="en-US"/>
          </a:p>
        </p:txBody>
      </p:sp>
      <p:pic>
        <p:nvPicPr>
          <p:cNvPr id="6" name="image1.jpg" descr="A drawing of a face&#10;&#10;Description automatically generated">
            <a:extLst>
              <a:ext uri="{FF2B5EF4-FFF2-40B4-BE49-F238E27FC236}">
                <a16:creationId xmlns:a16="http://schemas.microsoft.com/office/drawing/2014/main" id="{998CD259-459D-FD17-D37D-C4D53215D45D}"/>
              </a:ext>
            </a:extLst>
          </p:cNvPr>
          <p:cNvPicPr>
            <a:picLocks/>
          </p:cNvPicPr>
          <p:nvPr/>
        </p:nvPicPr>
        <p:blipFill>
          <a:blip r:embed="rId2" cstate="print"/>
          <a:srcRect/>
          <a:stretch>
            <a:fillRect/>
          </a:stretch>
        </p:blipFill>
        <p:spPr bwMode="auto">
          <a:xfrm>
            <a:off x="6400800" y="228600"/>
            <a:ext cx="2535382" cy="6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2374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FE12E-E2AA-1F0A-CD30-094F858B14FF}"/>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References</a:t>
            </a:r>
            <a:endParaRPr lang="en-IN" b="1" dirty="0"/>
          </a:p>
        </p:txBody>
      </p:sp>
      <p:sp>
        <p:nvSpPr>
          <p:cNvPr id="3" name="Content Placeholder 2">
            <a:extLst>
              <a:ext uri="{FF2B5EF4-FFF2-40B4-BE49-F238E27FC236}">
                <a16:creationId xmlns:a16="http://schemas.microsoft.com/office/drawing/2014/main" id="{85E0EA12-742A-94AB-CFC8-777F9F45AF22}"/>
              </a:ext>
            </a:extLst>
          </p:cNvPr>
          <p:cNvSpPr>
            <a:spLocks noGrp="1"/>
          </p:cNvSpPr>
          <p:nvPr>
            <p:ph idx="1"/>
          </p:nvPr>
        </p:nvSpPr>
        <p:spPr>
          <a:xfrm>
            <a:off x="606879" y="1725324"/>
            <a:ext cx="7886700" cy="4351338"/>
          </a:xfrm>
        </p:spPr>
        <p:txBody>
          <a:bodyPr/>
          <a:lstStyle/>
          <a:p>
            <a:pPr marL="0" indent="0">
              <a:buNone/>
            </a:pPr>
            <a:r>
              <a:rPr lang="en-US" sz="1500" dirty="0">
                <a:latin typeface="Times New Roman" panose="02020603050405020304" pitchFamily="18" charset="0"/>
                <a:cs typeface="Times New Roman" panose="02020603050405020304" pitchFamily="18" charset="0"/>
              </a:rPr>
              <a:t>[1]  Ali, M., Rehman, M. U., Zaman, M., Khan, S. A., &amp; Anjum, S. (2021). Machine Learning-Based         Object Detection for Autonomous UAVs in Disaster Management. </a:t>
            </a:r>
            <a:r>
              <a:rPr lang="en-US" sz="1500" b="1" dirty="0">
                <a:latin typeface="Times New Roman" panose="02020603050405020304" pitchFamily="18" charset="0"/>
                <a:cs typeface="Times New Roman" panose="02020603050405020304" pitchFamily="18" charset="0"/>
              </a:rPr>
              <a:t>IEEE Access, 9</a:t>
            </a:r>
            <a:r>
              <a:rPr lang="en-US" sz="1500" dirty="0">
                <a:latin typeface="Times New Roman" panose="02020603050405020304" pitchFamily="18" charset="0"/>
                <a:cs typeface="Times New Roman" panose="02020603050405020304" pitchFamily="18" charset="0"/>
              </a:rPr>
              <a:t>, 90257–90268. https://doi.org/10.1109/ACCESS.2021.3097436</a:t>
            </a:r>
          </a:p>
          <a:p>
            <a:pPr marL="0" indent="0">
              <a:buNone/>
            </a:pPr>
            <a:r>
              <a:rPr lang="en-US" sz="1500" dirty="0">
                <a:latin typeface="Times New Roman" panose="02020603050405020304" pitchFamily="18" charset="0"/>
                <a:cs typeface="Times New Roman" panose="02020603050405020304" pitchFamily="18" charset="0"/>
              </a:rPr>
              <a:t>[2] Patel, K. S., &amp; Rathi, N. (2022). AI-Powered Drone Systems for Surveillance and Rescue Operations: A Comprehensive Review. </a:t>
            </a:r>
            <a:r>
              <a:rPr lang="en-US" sz="1500" b="1" dirty="0">
                <a:latin typeface="Times New Roman" panose="02020603050405020304" pitchFamily="18" charset="0"/>
                <a:cs typeface="Times New Roman" panose="02020603050405020304" pitchFamily="18" charset="0"/>
              </a:rPr>
              <a:t>IEEE Transactions on Industrial Informatics, 18(7)</a:t>
            </a:r>
            <a:r>
              <a:rPr lang="en-US" sz="1500" dirty="0">
                <a:latin typeface="Times New Roman" panose="02020603050405020304" pitchFamily="18" charset="0"/>
                <a:cs typeface="Times New Roman" panose="02020603050405020304" pitchFamily="18" charset="0"/>
              </a:rPr>
              <a:t>, 4776–4784. https://doi.org/10.1109/TII.2022.3146678</a:t>
            </a:r>
          </a:p>
          <a:p>
            <a:pPr marL="0" indent="0">
              <a:buNone/>
            </a:pPr>
            <a:r>
              <a:rPr lang="en-US" sz="1500" dirty="0">
                <a:latin typeface="Times New Roman" panose="02020603050405020304" pitchFamily="18" charset="0"/>
                <a:cs typeface="Times New Roman" panose="02020603050405020304" pitchFamily="18" charset="0"/>
              </a:rPr>
              <a:t>[3] Sharma, R., Gupta, V., &amp; Rathore, V. S. (2022). A Deep Learning Approach for Real-Time Object Detection in UAV-Based Rescue Operations. </a:t>
            </a:r>
            <a:r>
              <a:rPr lang="en-US" sz="1500" b="1" dirty="0">
                <a:latin typeface="Times New Roman" panose="02020603050405020304" pitchFamily="18" charset="0"/>
                <a:cs typeface="Times New Roman" panose="02020603050405020304" pitchFamily="18" charset="0"/>
              </a:rPr>
              <a:t>International Journal of Advanced Robotics Systems, 19(1)</a:t>
            </a:r>
            <a:r>
              <a:rPr lang="en-US" sz="1500" dirty="0">
                <a:latin typeface="Times New Roman" panose="02020603050405020304" pitchFamily="18" charset="0"/>
                <a:cs typeface="Times New Roman" panose="02020603050405020304" pitchFamily="18" charset="0"/>
              </a:rPr>
              <a:t>, 1–12. https://doi.org/10.1177/1729881422110157</a:t>
            </a:r>
          </a:p>
          <a:p>
            <a:pPr marL="0" indent="0">
              <a:buNone/>
            </a:pPr>
            <a:r>
              <a:rPr lang="en-US" sz="1500" dirty="0">
                <a:latin typeface="Times New Roman" panose="02020603050405020304" pitchFamily="18" charset="0"/>
                <a:cs typeface="Times New Roman" panose="02020603050405020304" pitchFamily="18" charset="0"/>
              </a:rPr>
              <a:t>[4] Zhou, Y., Li, Q., &amp; Wang, H. (2023). Real-Time Detection and Classification of Hazards in Search and Rescue Missions Using UAVs. </a:t>
            </a:r>
            <a:r>
              <a:rPr lang="en-US" sz="1500" b="1" dirty="0">
                <a:latin typeface="Times New Roman" panose="02020603050405020304" pitchFamily="18" charset="0"/>
                <a:cs typeface="Times New Roman" panose="02020603050405020304" pitchFamily="18" charset="0"/>
              </a:rPr>
              <a:t>IEEE Transactions on Aerospace and Electronic Systems, 59(2)</a:t>
            </a:r>
            <a:r>
              <a:rPr lang="en-US" sz="1500" dirty="0">
                <a:latin typeface="Times New Roman" panose="02020603050405020304" pitchFamily="18" charset="0"/>
                <a:cs typeface="Times New Roman" panose="02020603050405020304" pitchFamily="18" charset="0"/>
              </a:rPr>
              <a:t>, 1215–1225. https://doi.org/10.1109/TAES.2023.3232762</a:t>
            </a:r>
          </a:p>
          <a:p>
            <a:pPr marL="0" indent="0">
              <a:buNone/>
            </a:pPr>
            <a:r>
              <a:rPr lang="en-US" sz="1500" dirty="0">
                <a:latin typeface="Times New Roman" panose="02020603050405020304" pitchFamily="18" charset="0"/>
                <a:cs typeface="Times New Roman" panose="02020603050405020304" pitchFamily="18" charset="0"/>
              </a:rPr>
              <a:t>[5] Johnson, D. M., &amp; Taylor, J. K. (2023). Autonomous Flight and Threat Detection for Defense Applications Using Drones: A Survey. </a:t>
            </a:r>
            <a:r>
              <a:rPr lang="en-US" sz="1500" b="1" dirty="0">
                <a:latin typeface="Times New Roman" panose="02020603050405020304" pitchFamily="18" charset="0"/>
                <a:cs typeface="Times New Roman" panose="02020603050405020304" pitchFamily="18" charset="0"/>
              </a:rPr>
              <a:t>Journal of Defense Technology and Innovation, 23(4)</a:t>
            </a:r>
            <a:r>
              <a:rPr lang="en-US" sz="1500" dirty="0">
                <a:latin typeface="Times New Roman" panose="02020603050405020304" pitchFamily="18" charset="0"/>
                <a:cs typeface="Times New Roman" panose="02020603050405020304" pitchFamily="18" charset="0"/>
              </a:rPr>
              <a:t>, 295–311. https://doi.org/10.1109/JDTI.2023.3216779</a:t>
            </a:r>
          </a:p>
          <a:p>
            <a:pPr marL="0" indent="0">
              <a:lnSpc>
                <a:spcPct val="100000"/>
              </a:lnSpc>
              <a:buNone/>
            </a:pPr>
            <a:endParaRPr lang="en-IN" sz="15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D245D97-28C7-AA42-978D-BAA69BEDD9DE}"/>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A37A49C7-0D9D-9714-2519-51BBFF3AF8B9}"/>
              </a:ext>
            </a:extLst>
          </p:cNvPr>
          <p:cNvSpPr>
            <a:spLocks noGrp="1"/>
          </p:cNvSpPr>
          <p:nvPr>
            <p:ph type="sldNum" sz="quarter" idx="12"/>
          </p:nvPr>
        </p:nvSpPr>
        <p:spPr/>
        <p:txBody>
          <a:bodyPr/>
          <a:lstStyle/>
          <a:p>
            <a:fld id="{9D73CAE4-B13A-4AC7-ABCD-5EDF85FE4EA2}" type="slidenum">
              <a:rPr lang="en-US" altLang="en-US" smtClean="0"/>
              <a:pPr/>
              <a:t>20</a:t>
            </a:fld>
            <a:endParaRPr lang="en-US" altLang="en-US"/>
          </a:p>
        </p:txBody>
      </p:sp>
      <p:pic>
        <p:nvPicPr>
          <p:cNvPr id="6" name="image1.jpg" descr="A drawing of a face&#10;&#10;Description automatically generated">
            <a:extLst>
              <a:ext uri="{FF2B5EF4-FFF2-40B4-BE49-F238E27FC236}">
                <a16:creationId xmlns:a16="http://schemas.microsoft.com/office/drawing/2014/main" id="{4024C3D1-9BA9-B2E0-DD50-E9CBA9162C01}"/>
              </a:ext>
            </a:extLst>
          </p:cNvPr>
          <p:cNvPicPr/>
          <p:nvPr/>
        </p:nvPicPr>
        <p:blipFill>
          <a:blip r:embed="rId2" cstate="print"/>
          <a:srcRect/>
          <a:stretch>
            <a:fillRect/>
          </a:stretch>
        </p:blipFill>
        <p:spPr>
          <a:xfrm>
            <a:off x="6324600" y="177800"/>
            <a:ext cx="2533319" cy="659958"/>
          </a:xfrm>
          <a:prstGeom prst="rect">
            <a:avLst/>
          </a:prstGeom>
          <a:ln/>
        </p:spPr>
      </p:pic>
    </p:spTree>
    <p:extLst>
      <p:ext uri="{BB962C8B-B14F-4D97-AF65-F5344CB8AC3E}">
        <p14:creationId xmlns:p14="http://schemas.microsoft.com/office/powerpoint/2010/main" val="3549318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9199-1399-8DC0-AC4D-53624EBB4B50}"/>
              </a:ext>
            </a:extLst>
          </p:cNvPr>
          <p:cNvSpPr>
            <a:spLocks noGrp="1"/>
          </p:cNvSpPr>
          <p:nvPr>
            <p:ph type="title"/>
          </p:nvPr>
        </p:nvSpPr>
        <p:spPr>
          <a:xfrm>
            <a:off x="0" y="2362200"/>
            <a:ext cx="9144000" cy="2286000"/>
          </a:xfrm>
        </p:spPr>
        <p:txBody>
          <a:bodyPr/>
          <a:lstStyle/>
          <a:p>
            <a:pPr algn="ctr"/>
            <a:r>
              <a:rPr lang="en-US" altLang="en-US" sz="5400" b="1" dirty="0">
                <a:latin typeface="Times New Roman" panose="02020603050405020304" pitchFamily="18" charset="0"/>
                <a:cs typeface="Times New Roman" panose="02020603050405020304" pitchFamily="18" charset="0"/>
              </a:rPr>
              <a:t>Thank You</a:t>
            </a:r>
            <a:endParaRPr lang="en-IN" sz="5400" dirty="0"/>
          </a:p>
        </p:txBody>
      </p:sp>
      <p:sp>
        <p:nvSpPr>
          <p:cNvPr id="4" name="Footer Placeholder 3">
            <a:extLst>
              <a:ext uri="{FF2B5EF4-FFF2-40B4-BE49-F238E27FC236}">
                <a16:creationId xmlns:a16="http://schemas.microsoft.com/office/drawing/2014/main" id="{293D7CD1-112B-0659-2B52-D2D5EEBB6BA3}"/>
              </a:ext>
            </a:extLst>
          </p:cNvPr>
          <p:cNvSpPr>
            <a:spLocks noGrp="1"/>
          </p:cNvSpPr>
          <p:nvPr>
            <p:ph type="ftr" sz="quarter" idx="11"/>
          </p:nvPr>
        </p:nvSpPr>
        <p:spPr/>
        <p:txBody>
          <a:bodyPr/>
          <a:lstStyle/>
          <a:p>
            <a:pPr>
              <a:defRPr/>
            </a:pPr>
            <a:r>
              <a:rPr lang="en-US" dirty="0"/>
              <a:t>DEPT. of CSE AI&amp;ML </a:t>
            </a:r>
            <a:r>
              <a:rPr lang="en-US" b="1" dirty="0">
                <a:latin typeface="Times New Roman" pitchFamily="18" charset="0"/>
                <a:cs typeface="Times New Roman" pitchFamily="18" charset="0"/>
              </a:rPr>
              <a:t>IBA4431</a:t>
            </a:r>
            <a:r>
              <a:rPr lang="en-US" sz="900" b="1" dirty="0">
                <a:latin typeface="Times New Roman" pitchFamily="18" charset="0"/>
                <a:cs typeface="Times New Roman" pitchFamily="18" charset="0"/>
              </a:rPr>
              <a:t> </a:t>
            </a:r>
            <a:r>
              <a:rPr lang="en-US" dirty="0"/>
              <a:t>- Mini Project </a:t>
            </a:r>
          </a:p>
        </p:txBody>
      </p:sp>
      <p:sp>
        <p:nvSpPr>
          <p:cNvPr id="5" name="Slide Number Placeholder 4">
            <a:extLst>
              <a:ext uri="{FF2B5EF4-FFF2-40B4-BE49-F238E27FC236}">
                <a16:creationId xmlns:a16="http://schemas.microsoft.com/office/drawing/2014/main" id="{1D7FBAEF-5C5F-7645-6B31-8EA47A1CD062}"/>
              </a:ext>
            </a:extLst>
          </p:cNvPr>
          <p:cNvSpPr>
            <a:spLocks noGrp="1"/>
          </p:cNvSpPr>
          <p:nvPr>
            <p:ph type="sldNum" sz="quarter" idx="12"/>
          </p:nvPr>
        </p:nvSpPr>
        <p:spPr/>
        <p:txBody>
          <a:bodyPr/>
          <a:lstStyle/>
          <a:p>
            <a:fld id="{9D73CAE4-B13A-4AC7-ABCD-5EDF85FE4EA2}" type="slidenum">
              <a:rPr lang="en-US" altLang="en-US" smtClean="0"/>
              <a:pPr/>
              <a:t>21</a:t>
            </a:fld>
            <a:endParaRPr lang="en-US" altLang="en-US"/>
          </a:p>
        </p:txBody>
      </p:sp>
    </p:spTree>
    <p:extLst>
      <p:ext uri="{BB962C8B-B14F-4D97-AF65-F5344CB8AC3E}">
        <p14:creationId xmlns:p14="http://schemas.microsoft.com/office/powerpoint/2010/main" val="39801967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25239</TotalTime>
  <Words>1765</Words>
  <Application>Microsoft Office PowerPoint</Application>
  <PresentationFormat>On-screen Show (4:3)</PresentationFormat>
  <Paragraphs>149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Liberation Serif</vt:lpstr>
      <vt:lpstr>Times New Roman</vt:lpstr>
      <vt:lpstr>Wingdings</vt:lpstr>
      <vt:lpstr>Office Theme</vt:lpstr>
      <vt:lpstr> Department of Computer Science and Engineering IBA4431 – MINI PROJECT  Ornithopter Control System for Defense and Rescue Final Review</vt:lpstr>
      <vt:lpstr>Agenda for the review</vt:lpstr>
      <vt:lpstr>Abstract</vt:lpstr>
      <vt:lpstr>Introduction</vt:lpstr>
      <vt:lpstr>Goals and Motivation</vt:lpstr>
      <vt:lpstr>Literature review</vt:lpstr>
      <vt:lpstr>Problem Definition</vt:lpstr>
      <vt:lpstr>Objective</vt:lpstr>
      <vt:lpstr>Architecture Diagram</vt:lpstr>
      <vt:lpstr>Proposed system</vt:lpstr>
      <vt:lpstr>Component requirements </vt:lpstr>
      <vt:lpstr>Module description</vt:lpstr>
      <vt:lpstr>Module description</vt:lpstr>
      <vt:lpstr>Module description</vt:lpstr>
      <vt:lpstr>Module description</vt:lpstr>
      <vt:lpstr>Module description</vt:lpstr>
      <vt:lpstr>Results and discussion</vt:lpstr>
      <vt:lpstr>Conclusion and future work</vt:lpstr>
      <vt:lpstr>Conclusion and future work</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Abihassan</dc:creator>
  <cp:lastModifiedBy>Abi Hassan.k</cp:lastModifiedBy>
  <cp:revision>269</cp:revision>
  <dcterms:created xsi:type="dcterms:W3CDTF">1601-01-01T00:00:00Z</dcterms:created>
  <dcterms:modified xsi:type="dcterms:W3CDTF">2025-12-18T15:12:48Z</dcterms:modified>
</cp:coreProperties>
</file>